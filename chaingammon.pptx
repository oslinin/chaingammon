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</p:sldIdLst>
  <p:sldSz cx="12188825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B5EC26-4932-499A-85DC-DD4FFC83C3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092EEB6-2999-45AF-B803-F751365C27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2E03D7-F03D-45AA-9088-C9F7FD38C3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0197D3-6C79-45E3-A11D-9583F35E9E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3FDA3A6-9E15-4CE6-A6E1-6A8A95EF0A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745AF5C-AB5C-40A1-B471-6CE4301330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5652FFF-2D1F-4610-B6BB-AB42925053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7E671E9-C77D-4B07-B99B-BA6B97A018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955C4CC-A9B7-431F-8FBB-F3242C68D6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9324CBF-FF6B-4E68-B532-80FA72A86A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F7B236A-FFDB-47B1-B359-7B2980B4E5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EE6B791-B942-4920-B49E-BFF208B18A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11C1CC1-6AC3-4926-A4D2-606F1E74DF0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4E3784E-7756-49A0-A6CE-F131B49B02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9A79B83-36BF-48AC-B66C-3970E146F30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813A887-C1A7-4007-A7E5-2702ED279CD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647BB9D-788C-4DBD-BD8F-D9D70BF9ABC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1712C8B-0451-4D10-B81C-D27F29CA63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69F5437-B315-4A9B-93E0-0B9BA7D2CA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BDB7445-4067-4EF8-AEFA-7043AD5264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97EDC9-592D-4B76-B9B5-17D7C3042E7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9B7BAF-34C0-4E2B-8294-0147392261E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7772400" y="-457200"/>
            <a:ext cx="5028120" cy="8228520"/>
          </a:xfrm>
          <a:prstGeom prst="rect">
            <a:avLst/>
          </a:prstGeom>
          <a:solidFill>
            <a:srgbClr val="1614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0" y="0"/>
            <a:ext cx="12187800" cy="4561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548640" y="1097280"/>
            <a:ext cx="7314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Calibri"/>
              </a:rPr>
              <a:t>CHAINGAMMON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548640" y="2286000"/>
            <a:ext cx="731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0d4aa"/>
                </a:solidFill>
                <a:latin typeface="Calibri"/>
              </a:rPr>
              <a:t>5,000 years of strategy. Finally, a permanent record.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Box 5"/>
          <p:cNvSpPr/>
          <p:nvPr/>
        </p:nvSpPr>
        <p:spPr>
          <a:xfrm>
            <a:off x="548640" y="3017520"/>
            <a:ext cx="731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aaaabb"/>
                </a:solidFill>
                <a:latin typeface="Calibri"/>
              </a:rPr>
              <a:t>ETHGlobal Open Agents  ·  April 24 – May 6 2026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Rectangle 6"/>
          <p:cNvSpPr/>
          <p:nvPr/>
        </p:nvSpPr>
        <p:spPr>
          <a:xfrm>
            <a:off x="548640" y="4114800"/>
            <a:ext cx="1461960" cy="41040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ENS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ectangle 7"/>
          <p:cNvSpPr/>
          <p:nvPr/>
        </p:nvSpPr>
        <p:spPr>
          <a:xfrm>
            <a:off x="2194560" y="4114800"/>
            <a:ext cx="1461960" cy="41040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0G 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Rectangle 8"/>
          <p:cNvSpPr/>
          <p:nvPr/>
        </p:nvSpPr>
        <p:spPr>
          <a:xfrm>
            <a:off x="3840480" y="4114800"/>
            <a:ext cx="1461960" cy="41040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KeeperHub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1"/>
          <p:cNvSpPr/>
          <p:nvPr/>
        </p:nvSpPr>
        <p:spPr>
          <a:xfrm>
            <a:off x="548640" y="411480"/>
            <a:ext cx="54860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TL;DR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Box 2"/>
          <p:cNvSpPr/>
          <p:nvPr/>
        </p:nvSpPr>
        <p:spPr>
          <a:xfrm>
            <a:off x="548640" y="868680"/>
            <a:ext cx="11063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Decentralized, verifiable ELO for backgammon — for humans and for AI agents that live on-chain as 0G iNFTs and learn match by match.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548640" y="2606040"/>
            <a:ext cx="11063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Verifiable. </a:t>
            </a:r>
            <a:r>
              <a:rPr b="0" lang="en-US" sz="1800" spc="-1" strike="noStrike">
                <a:solidFill>
                  <a:srgbClr val="aaaabb"/>
                </a:solidFill>
                <a:latin typeface="Calibri"/>
              </a:rPr>
              <a:t>Every match settles to a MatchRegistry contract. Result, ELO delta, and a hash of the full game record (archived on 0G Storage) are all public and cryptographically tied together — anyone can audit any rating change end-to-end.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548640" y="3931920"/>
            <a:ext cx="11063880" cy="57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Portable. </a:t>
            </a:r>
            <a:r>
              <a:rPr b="0" lang="en-US" sz="1600" spc="-1" strike="noStrike">
                <a:solidFill>
                  <a:srgbClr val="aaaabb"/>
                </a:solidFill>
                <a:latin typeface="Calibri"/>
              </a:rPr>
              <a:t>Each player's rating lives in their wallet via an ENS subname (&lt;name&gt;.chaingammon.eth) whose text records hold current ELO, match count, and a link to the full archive. Switch frontends, switch clients — reputation comes with you.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Box 5"/>
          <p:cNvSpPr/>
          <p:nvPr/>
        </p:nvSpPr>
        <p:spPr>
          <a:xfrm>
            <a:off x="548640" y="5257800"/>
            <a:ext cx="11063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</a:rPr>
              <a:t>Living, learning agents. </a:t>
            </a:r>
            <a:r>
              <a:rPr b="0" lang="en-US" sz="1500" spc="-1" strike="noStrike">
                <a:solidFill>
                  <a:srgbClr val="aaaabb"/>
                </a:solidFill>
                <a:latin typeface="Calibri"/>
              </a:rPr>
              <a:t>Each AI agent IS an ERC-7857 iNFT minted on 0G Chain (and Sepolia for settlement) — the token itself, not a label pointing at an off-chain model. The iNFT pins two hashes that point at 0G Storage: starter weights (gnubg-initialised) and a per-agent trained checkpoint that the protocol rewrites after every match (TD-λ self-play). The iNFT learns. Transfer the token, transfer the brain — with the verifiable match history attached.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PROBLEM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548640" y="777240"/>
            <a:ext cx="109717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Every backgammon platform is a walled graveyard.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4"/>
          <p:cNvSpPr/>
          <p:nvPr/>
        </p:nvSpPr>
        <p:spPr>
          <a:xfrm>
            <a:off x="457200" y="1600200"/>
            <a:ext cx="5485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7070"/>
                </a:solidFill>
                <a:latin typeface="Calibri"/>
              </a:rPr>
              <a:t>Platform shutdowns — real losses, real players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Rectangle 5"/>
          <p:cNvSpPr/>
          <p:nvPr/>
        </p:nvSpPr>
        <p:spPr>
          <a:xfrm>
            <a:off x="457200" y="20574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6"/>
          <p:cNvSpPr/>
          <p:nvPr/>
        </p:nvSpPr>
        <p:spPr>
          <a:xfrm>
            <a:off x="457200" y="20574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7"/>
          <p:cNvSpPr/>
          <p:nvPr/>
        </p:nvSpPr>
        <p:spPr>
          <a:xfrm>
            <a:off x="731520" y="21031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2014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8"/>
          <p:cNvSpPr/>
          <p:nvPr/>
        </p:nvSpPr>
        <p:spPr>
          <a:xfrm>
            <a:off x="1600200" y="2103120"/>
            <a:ext cx="4205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GameSpy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9"/>
          <p:cNvSpPr/>
          <p:nvPr/>
        </p:nvSpPr>
        <p:spPr>
          <a:xfrm>
            <a:off x="731520" y="25876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Apr 30, 2014. All leaderboards, rankings, and statistics deleted overnight. No migration.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 10"/>
          <p:cNvSpPr/>
          <p:nvPr/>
        </p:nvSpPr>
        <p:spPr>
          <a:xfrm>
            <a:off x="457200" y="34290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Rectangle 11"/>
          <p:cNvSpPr/>
          <p:nvPr/>
        </p:nvSpPr>
        <p:spPr>
          <a:xfrm>
            <a:off x="457200" y="34290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12"/>
          <p:cNvSpPr/>
          <p:nvPr/>
        </p:nvSpPr>
        <p:spPr>
          <a:xfrm>
            <a:off x="731520" y="34747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2020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13"/>
          <p:cNvSpPr/>
          <p:nvPr/>
        </p:nvSpPr>
        <p:spPr>
          <a:xfrm>
            <a:off x="1600200" y="3474720"/>
            <a:ext cx="42051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Microsoft Internet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 (Backgammon)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4"/>
          <p:cNvSpPr/>
          <p:nvPr/>
        </p:nvSpPr>
        <p:spPr>
          <a:xfrm>
            <a:off x="731520" y="39592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Jan 22, 2020. 20 years of backgammon match history — permanently gone.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Rectangle 15"/>
          <p:cNvSpPr/>
          <p:nvPr/>
        </p:nvSpPr>
        <p:spPr>
          <a:xfrm>
            <a:off x="457200" y="48006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Rectangle 16"/>
          <p:cNvSpPr/>
          <p:nvPr/>
        </p:nvSpPr>
        <p:spPr>
          <a:xfrm>
            <a:off x="457200" y="48006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17"/>
          <p:cNvSpPr/>
          <p:nvPr/>
        </p:nvSpPr>
        <p:spPr>
          <a:xfrm>
            <a:off x="731520" y="48463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2026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18"/>
          <p:cNvSpPr/>
          <p:nvPr/>
        </p:nvSpPr>
        <p:spPr>
          <a:xfrm>
            <a:off x="1600200" y="4846320"/>
            <a:ext cx="4205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Facebook Gaming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731520" y="53308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Creator Program ended Oct 2025; platform fully shutting down. Backgammon games and player data lost.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6400800" y="1600200"/>
            <a:ext cx="530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c84b"/>
                </a:solidFill>
                <a:latin typeface="Calibri"/>
              </a:rPr>
              <a:t>No standard. No portability. Nowhere safe.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21"/>
          <p:cNvSpPr/>
          <p:nvPr/>
        </p:nvSpPr>
        <p:spPr>
          <a:xfrm>
            <a:off x="6400800" y="1920240"/>
            <a:ext cx="5393880" cy="247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FIBS (First Internet Backgammon Server, est. 1992) is the oldest online rating system — 30+ years of play. But ratings are locked on that server: no export, no API, no portability. If FIBS goes dark, three decades of community skill records vanish overnight.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5+ active platforms today: Backgammon Galaxy, PlayOK, VIP Backgammon, BGO, FIBS — ratings don’t transfer between any of them.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Chess has FIDE — a global, portable, federated rating body. Backgammon has nothing equivalent.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Switch platforms → start at 1500. Your skill is real; your record is fiction.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AI agents are even worse: no identity, no history, no verifiable track record across deployments.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Rectangle 22"/>
          <p:cNvSpPr/>
          <p:nvPr/>
        </p:nvSpPr>
        <p:spPr>
          <a:xfrm>
            <a:off x="457200" y="5989320"/>
            <a:ext cx="11246040" cy="684720"/>
          </a:xfrm>
          <a:prstGeom prst="rect">
            <a:avLst/>
          </a:prstGeom>
          <a:solidFill>
            <a:srgbClr val="1e1a42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00d4aa"/>
                </a:solidFill>
                <a:latin typeface="Calibri"/>
              </a:rPr>
              <a:t>"California AB 2426 (2024) now requires 30 days’ notice before a game shuts down. It does NOT require preserving your ratings."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79" descr="game.png"/>
          <p:cNvPicPr/>
          <p:nvPr/>
        </p:nvPicPr>
        <p:blipFill>
          <a:blip r:embed="rId1"/>
          <a:stretch/>
        </p:blipFill>
        <p:spPr>
          <a:xfrm>
            <a:off x="6400800" y="4370760"/>
            <a:ext cx="2834280" cy="1718640"/>
          </a:xfrm>
          <a:prstGeom prst="rect">
            <a:avLst/>
          </a:prstGeom>
          <a:ln w="0">
            <a:noFill/>
          </a:ln>
        </p:spPr>
      </p:pic>
      <p:sp>
        <p:nvSpPr>
          <p:cNvPr id="86" name="TextBox 80"/>
          <p:cNvSpPr/>
          <p:nvPr/>
        </p:nvSpPr>
        <p:spPr>
          <a:xfrm>
            <a:off x="9308520" y="4370760"/>
            <a:ext cx="278856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ff5555"/>
                </a:solidFill>
                <a:latin typeface="Arial"/>
              </a:rPr>
              <a:t>bgkingonline.com — a typical web2 backgammon platform.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The dice don’t know your rating. The “BUY” button does.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Virtual coins sold for real money. Your ELO lives in their database. No portability, no proof, no exit.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MARKET OPPORTUNITY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548640" y="777240"/>
            <a:ext cx="10971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A Polymarket moment for skill — starting with backgammon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457200" y="1554480"/>
            <a:ext cx="54853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The Polymarket parallel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Rectangle 5"/>
          <p:cNvSpPr/>
          <p:nvPr/>
        </p:nvSpPr>
        <p:spPr>
          <a:xfrm>
            <a:off x="457200" y="2011680"/>
            <a:ext cx="5576760" cy="3830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94360" y="2039040"/>
            <a:ext cx="2559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BEFORE (Web2)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3246120" y="2039040"/>
            <a:ext cx="265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AFTER (Chaingammon)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ectangle 8"/>
          <p:cNvSpPr/>
          <p:nvPr/>
        </p:nvSpPr>
        <p:spPr>
          <a:xfrm>
            <a:off x="457200" y="244152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594360" y="24778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Centralised prediction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markets (PredictIt)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3017520" y="255132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11"/>
          <p:cNvSpPr/>
          <p:nvPr/>
        </p:nvSpPr>
        <p:spPr>
          <a:xfrm>
            <a:off x="3383280" y="24778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Decentralised game ratings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(on-chain ELO, ENS subnames)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Rectangle 12"/>
          <p:cNvSpPr/>
          <p:nvPr/>
        </p:nvSpPr>
        <p:spPr>
          <a:xfrm>
            <a:off x="457200" y="3117960"/>
            <a:ext cx="5576760" cy="6206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594360" y="31546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Opaque odds set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by operators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3017520" y="322776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15"/>
          <p:cNvSpPr/>
          <p:nvPr/>
        </p:nvSpPr>
        <p:spPr>
          <a:xfrm>
            <a:off x="3383280" y="31546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ELO computed on-chain,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verifiable by anyone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ectangle 16"/>
          <p:cNvSpPr/>
          <p:nvPr/>
        </p:nvSpPr>
        <p:spPr>
          <a:xfrm>
            <a:off x="457200" y="379476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17"/>
          <p:cNvSpPr/>
          <p:nvPr/>
        </p:nvSpPr>
        <p:spPr>
          <a:xfrm>
            <a:off x="594360" y="38314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Permissioned who can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create a market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18"/>
          <p:cNvSpPr/>
          <p:nvPr/>
        </p:nvSpPr>
        <p:spPr>
          <a:xfrm>
            <a:off x="3017520" y="390456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3383280" y="38314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Permissionless: any platform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can read ENS text records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ectangle 20"/>
          <p:cNvSpPr/>
          <p:nvPr/>
        </p:nvSpPr>
        <p:spPr>
          <a:xfrm>
            <a:off x="457200" y="4471560"/>
            <a:ext cx="5576760" cy="6206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1"/>
          <p:cNvSpPr/>
          <p:nvPr/>
        </p:nvSpPr>
        <p:spPr>
          <a:xfrm>
            <a:off x="594360" y="45079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Real $ at stake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aligns accuracy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Box 22"/>
          <p:cNvSpPr/>
          <p:nvPr/>
        </p:nvSpPr>
        <p:spPr>
          <a:xfrm>
            <a:off x="3017520" y="458100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23"/>
          <p:cNvSpPr/>
          <p:nvPr/>
        </p:nvSpPr>
        <p:spPr>
          <a:xfrm>
            <a:off x="3383280" y="45079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Real match history on-chain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aligns trust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ectangle 24"/>
          <p:cNvSpPr/>
          <p:nvPr/>
        </p:nvSpPr>
        <p:spPr>
          <a:xfrm>
            <a:off x="457200" y="514800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25"/>
          <p:cNvSpPr/>
          <p:nvPr/>
        </p:nvSpPr>
        <p:spPr>
          <a:xfrm>
            <a:off x="594360" y="51847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Prices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Box 26"/>
          <p:cNvSpPr/>
          <p:nvPr/>
        </p:nvSpPr>
        <p:spPr>
          <a:xfrm>
            <a:off x="3017520" y="525780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27"/>
          <p:cNvSpPr/>
          <p:nvPr/>
        </p:nvSpPr>
        <p:spPr>
          <a:xfrm>
            <a:off x="3383280" y="51847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Ratings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Box 2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Why backgammon first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29"/>
          <p:cNvSpPr/>
          <p:nvPr/>
        </p:nvSpPr>
        <p:spPr>
          <a:xfrm>
            <a:off x="6400800" y="2011680"/>
            <a:ext cx="539388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One of humanity’s oldest games — traced to ancient Mesopotamia, played continuously for 5,000 years across Persian, Roman, and Ottoman empires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Never needed a central authority to stay alive — until the internet put it inside platform silos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The rules haven’t changed; the infrastructure should finally catch up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ELO already used on every platform — portable ratings are the natural next step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gnubg gives a world-class AI baseline: human vs. machine skill gaps are measurable and auditable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30"/>
          <p:cNvSpPr/>
          <p:nvPr/>
        </p:nvSpPr>
        <p:spPr>
          <a:xfrm>
            <a:off x="6400800" y="466344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c84b"/>
                </a:solidFill>
                <a:latin typeface="Calibri"/>
              </a:rPr>
              <a:t>Extensible to any turn-based game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31"/>
          <p:cNvSpPr/>
          <p:nvPr/>
        </p:nvSpPr>
        <p:spPr>
          <a:xfrm>
            <a:off x="6400800" y="512064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♟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Chess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32"/>
          <p:cNvSpPr/>
          <p:nvPr/>
        </p:nvSpPr>
        <p:spPr>
          <a:xfrm>
            <a:off x="7772400" y="512064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FIDE ratings are already semi-portable; on-chain is the full solution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Box 33"/>
          <p:cNvSpPr/>
          <p:nvPr/>
        </p:nvSpPr>
        <p:spPr>
          <a:xfrm>
            <a:off x="6400800" y="555048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□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Go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Box 34"/>
          <p:cNvSpPr/>
          <p:nvPr/>
        </p:nvSpPr>
        <p:spPr>
          <a:xfrm>
            <a:off x="7772400" y="555048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No global digital rating standard — same problem, larger community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35"/>
          <p:cNvSpPr/>
          <p:nvPr/>
        </p:nvSpPr>
        <p:spPr>
          <a:xfrm>
            <a:off x="6400800" y="598032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ffc84b"/>
                </a:solidFill>
                <a:latin typeface="Calibri"/>
              </a:rPr>
              <a:t>逆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Mahjong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36"/>
          <p:cNvSpPr/>
          <p:nvPr/>
        </p:nvSpPr>
        <p:spPr>
          <a:xfrm>
            <a:off x="7772400" y="5980320"/>
            <a:ext cx="4022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Enormous Asian market; zero cross-platform rating portability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Box 37"/>
          <p:cNvSpPr/>
          <p:nvPr/>
        </p:nvSpPr>
        <p:spPr>
          <a:xfrm>
            <a:off x="6400800" y="640980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✶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Any game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38"/>
          <p:cNvSpPr/>
          <p:nvPr/>
        </p:nvSpPr>
        <p:spPr>
          <a:xfrm>
            <a:off x="7772400" y="640980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Any game with reproducible positions + verifiable outcomes can use the protocol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SOLUTION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548640" y="822960"/>
            <a:ext cx="109717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</a:rPr>
              <a:t>Chaingammon — the open backgammon protocol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ectangle 4"/>
          <p:cNvSpPr/>
          <p:nvPr/>
        </p:nvSpPr>
        <p:spPr>
          <a:xfrm>
            <a:off x="4572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5"/>
          <p:cNvSpPr/>
          <p:nvPr/>
        </p:nvSpPr>
        <p:spPr>
          <a:xfrm>
            <a:off x="457200" y="1920240"/>
            <a:ext cx="365652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5943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🪪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Identity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Box 7"/>
          <p:cNvSpPr/>
          <p:nvPr/>
        </p:nvSpPr>
        <p:spPr>
          <a:xfrm>
            <a:off x="594360" y="2926080"/>
            <a:ext cx="338220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ENS subname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alice.chaingammon.eth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carries ELO, match count, last_match_id,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kind, iNFT id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Rectangle 8"/>
          <p:cNvSpPr/>
          <p:nvPr/>
        </p:nvSpPr>
        <p:spPr>
          <a:xfrm>
            <a:off x="43434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9"/>
          <p:cNvSpPr/>
          <p:nvPr/>
        </p:nvSpPr>
        <p:spPr>
          <a:xfrm>
            <a:off x="4343400" y="1920240"/>
            <a:ext cx="365652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10"/>
          <p:cNvSpPr/>
          <p:nvPr/>
        </p:nvSpPr>
        <p:spPr>
          <a:xfrm>
            <a:off x="44805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🧠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Agent iNFT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11"/>
          <p:cNvSpPr/>
          <p:nvPr/>
        </p:nvSpPr>
        <p:spPr>
          <a:xfrm>
            <a:off x="4480560" y="2926080"/>
            <a:ext cx="338220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ERC-7857 iNFT (Sepolia + 0G testnet).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Per-agent NN: gnubg starter 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trained checkpoint (TD-λ),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both on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Rectangle 12"/>
          <p:cNvSpPr/>
          <p:nvPr/>
        </p:nvSpPr>
        <p:spPr>
          <a:xfrm>
            <a:off x="82296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13"/>
          <p:cNvSpPr/>
          <p:nvPr/>
        </p:nvSpPr>
        <p:spPr>
          <a:xfrm>
            <a:off x="8229600" y="1920240"/>
            <a:ext cx="365652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4"/>
          <p:cNvSpPr/>
          <p:nvPr/>
        </p:nvSpPr>
        <p:spPr>
          <a:xfrm>
            <a:off x="83667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⚖️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Settlement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15"/>
          <p:cNvSpPr/>
          <p:nvPr/>
        </p:nvSpPr>
        <p:spPr>
          <a:xfrm>
            <a:off x="8458200" y="2665080"/>
            <a:ext cx="338220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Each result is cryptographically committed: the full move-by-move archive hashed and tied permanently to an on-chain record.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Why KeeperHub, not the server? The server is the game operator — letting it also settle results is like a referee keeping score for their own team. KeeperHub is a neutral keeper network: it retries on failure, optimises gas, and runs even if the server goes offline after firing the trigger.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KeeperHub orchestrates: recordMatchAndSplit → ENS update → checkpoint hash → audit trail.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Why not just server → 0G? Anyone can write anything to 0G. The KeeperHub audit is a keeper-signed receipt listing each step's on-chain tx hash, timestamp, gas, and retry count — verify any step on the block explorer, no trust required.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HOW IT WORKS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End-to-end match lifecycle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Oval 4"/>
          <p:cNvSpPr/>
          <p:nvPr/>
        </p:nvSpPr>
        <p:spPr>
          <a:xfrm>
            <a:off x="4572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9601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Connect wallet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9601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Frontend auto-issues alice.chaingammon.eth ENS subname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Oval 7"/>
          <p:cNvSpPr/>
          <p:nvPr/>
        </p:nvSpPr>
        <p:spPr>
          <a:xfrm>
            <a:off x="43434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48463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Pick opponent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48463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Another human subname, or an AI agent iNFT (gnubg-advanced-1.chaingammon.eth)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Oval 10"/>
          <p:cNvSpPr/>
          <p:nvPr/>
        </p:nvSpPr>
        <p:spPr>
          <a:xfrm>
            <a:off x="82296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87325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12"/>
          <p:cNvSpPr/>
          <p:nvPr/>
        </p:nvSpPr>
        <p:spPr>
          <a:xfrm>
            <a:off x="87325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Drand round → dice (keccak256 mod 36); per-agent NN runs in browser (or 0G Compute when offline)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Oval 13"/>
          <p:cNvSpPr/>
          <p:nvPr/>
        </p:nvSpPr>
        <p:spPr>
          <a:xfrm>
            <a:off x="4572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9601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Game ends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9601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builds GameRecord JSON → uploads to 0G Storage → gets Merkle rootHash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Oval 16"/>
          <p:cNvSpPr/>
          <p:nvPr/>
        </p:nvSpPr>
        <p:spPr>
          <a:xfrm>
            <a:off x="43434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17"/>
          <p:cNvSpPr/>
          <p:nvPr/>
        </p:nvSpPr>
        <p:spPr>
          <a:xfrm>
            <a:off x="48463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KeeperHub fires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48463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settleWithSessionKeys / recordMatchAndSplit on Sepolia + ENS text records updated + agent checkpoint hash refreshed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Oval 19"/>
          <p:cNvSpPr/>
          <p:nvPr/>
        </p:nvSpPr>
        <p:spPr>
          <a:xfrm>
            <a:off x="82296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20"/>
          <p:cNvSpPr/>
          <p:nvPr/>
        </p:nvSpPr>
        <p:spPr>
          <a:xfrm>
            <a:off x="87325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published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21"/>
          <p:cNvSpPr/>
          <p:nvPr/>
        </p:nvSpPr>
        <p:spPr>
          <a:xfrm>
            <a:off x="87325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KeeperHub audit JSON mirrored to 0G Storage; match replay publicly accessible forever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ENS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548640" y="777240"/>
            <a:ext cx="10971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ENS subnames as portable player identity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4572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What is ENS?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457200" y="2011680"/>
            <a:ext cx="5302440" cy="16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Ethereum Name Service — the DNS of Web3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Human-readable names (alice.eth) resolve to addresses, content hashes, and arbitrary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Subnames: any .eth owner can issue &lt;label&gt;.&lt;name&gt;.eth — delegated, on-chain, free to transfer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Text records are on-chain structured metadata: a player is just a name + a bag of key-value facts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457200" y="4434840"/>
            <a:ext cx="530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Why subnames are the right primitive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457200" y="4892040"/>
            <a:ext cx="5302440" cy="11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Platform-portable: alice.chaingammon.eth exists even if Chaingammon.com goes dark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Composable: any dApp reads text records permissionlessly via ENS resolver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Human-readable: beats 0x4a…3f in leaderboards, match UIs, and social sharing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Hierarchical trust: chaingammon.eth controls issuance; player controls the 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alice.chaingammon.eth  text records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Rectangle 9"/>
          <p:cNvSpPr/>
          <p:nvPr/>
        </p:nvSpPr>
        <p:spPr>
          <a:xfrm>
            <a:off x="6400800" y="205740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10"/>
          <p:cNvSpPr/>
          <p:nvPr/>
        </p:nvSpPr>
        <p:spPr>
          <a:xfrm>
            <a:off x="6510600" y="209412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elo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11"/>
          <p:cNvSpPr/>
          <p:nvPr/>
        </p:nvSpPr>
        <p:spPr>
          <a:xfrm>
            <a:off x="8001000" y="209412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1847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6510600" y="245988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Current ELO rating — updated after every match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Rectangle 13"/>
          <p:cNvSpPr/>
          <p:nvPr/>
        </p:nvSpPr>
        <p:spPr>
          <a:xfrm>
            <a:off x="6400800" y="293508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14"/>
          <p:cNvSpPr/>
          <p:nvPr/>
        </p:nvSpPr>
        <p:spPr>
          <a:xfrm>
            <a:off x="6510600" y="297180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match_count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15"/>
          <p:cNvSpPr/>
          <p:nvPr/>
        </p:nvSpPr>
        <p:spPr>
          <a:xfrm>
            <a:off x="8001000" y="297180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42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6510600" y="333756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Total games played, on-chain provenance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Rectangle 17"/>
          <p:cNvSpPr/>
          <p:nvPr/>
        </p:nvSpPr>
        <p:spPr>
          <a:xfrm>
            <a:off x="6400800" y="381312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TextBox 18"/>
          <p:cNvSpPr/>
          <p:nvPr/>
        </p:nvSpPr>
        <p:spPr>
          <a:xfrm>
            <a:off x="6510600" y="384948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last_match_id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9"/>
          <p:cNvSpPr/>
          <p:nvPr/>
        </p:nvSpPr>
        <p:spPr>
          <a:xfrm>
            <a:off x="8001000" y="384948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0x1f…c3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Box 20"/>
          <p:cNvSpPr/>
          <p:nvPr/>
        </p:nvSpPr>
        <p:spPr>
          <a:xfrm>
            <a:off x="6510600" y="421524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Pointer to latest MatchRegistry entry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ectangle 21"/>
          <p:cNvSpPr/>
          <p:nvPr/>
        </p:nvSpPr>
        <p:spPr>
          <a:xfrm>
            <a:off x="6400800" y="469080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22"/>
          <p:cNvSpPr/>
          <p:nvPr/>
        </p:nvSpPr>
        <p:spPr>
          <a:xfrm>
            <a:off x="6510600" y="472752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kind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23"/>
          <p:cNvSpPr/>
          <p:nvPr/>
        </p:nvSpPr>
        <p:spPr>
          <a:xfrm>
            <a:off x="8001000" y="472752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24"/>
          <p:cNvSpPr/>
          <p:nvPr/>
        </p:nvSpPr>
        <p:spPr>
          <a:xfrm>
            <a:off x="6510600" y="509328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Identity discriminator: 'human' or 'agent' — set at creation, never changes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ectangle 25"/>
          <p:cNvSpPr/>
          <p:nvPr/>
        </p:nvSpPr>
        <p:spPr>
          <a:xfrm>
            <a:off x="6400800" y="55688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26"/>
          <p:cNvSpPr/>
          <p:nvPr/>
        </p:nvSpPr>
        <p:spPr>
          <a:xfrm>
            <a:off x="6510600" y="560520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inft_id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27"/>
          <p:cNvSpPr/>
          <p:nvPr/>
        </p:nvSpPr>
        <p:spPr>
          <a:xfrm>
            <a:off x="8001000" y="560520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28"/>
          <p:cNvSpPr/>
          <p:nvPr/>
        </p:nvSpPr>
        <p:spPr>
          <a:xfrm>
            <a:off x="6510600" y="597096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ERC-7857 token id of the agent iNFT (empty for human subnames)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29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PlayerSubnameRegistrar.sol issues subnames via ENS NameWrapper on Sepolia; protocol-only setText for the 5 reserved keys.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0G STORAGE &amp; COMPUTE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AI-native decentralized storage + TEE-attested compute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Rectangle 4"/>
          <p:cNvSpPr/>
          <p:nvPr/>
        </p:nvSpPr>
        <p:spPr>
          <a:xfrm>
            <a:off x="457200" y="160020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Rectangle 5"/>
          <p:cNvSpPr/>
          <p:nvPr/>
        </p:nvSpPr>
        <p:spPr>
          <a:xfrm>
            <a:off x="457200" y="1600200"/>
            <a:ext cx="557676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594360" y="199332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Compute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7"/>
          <p:cNvSpPr/>
          <p:nvPr/>
        </p:nvSpPr>
        <p:spPr>
          <a:xfrm>
            <a:off x="594360" y="2423160"/>
            <a:ext cx="530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TEE-attested inference network.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Coach LLM: Qwen 2.5 7B chat completion.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Offline NN inference for agent value-net.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@0glabs/0g-serving-broker SDK; ledger pay-per-call.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Rectangle 8"/>
          <p:cNvSpPr/>
          <p:nvPr/>
        </p:nvSpPr>
        <p:spPr>
          <a:xfrm>
            <a:off x="6309360" y="160020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9"/>
          <p:cNvSpPr/>
          <p:nvPr/>
        </p:nvSpPr>
        <p:spPr>
          <a:xfrm>
            <a:off x="6309360" y="1600200"/>
            <a:ext cx="557676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6446520" y="199332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Storage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1"/>
          <p:cNvSpPr/>
          <p:nvPr/>
        </p:nvSpPr>
        <p:spPr>
          <a:xfrm>
            <a:off x="6446520" y="2423160"/>
            <a:ext cx="530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Decentralized, content-addressed, permanent.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Three primitives: Log (append-only), KV (key-value), Blob (binary).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Upload returns a root hash you can commit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Designed for AI/ML workloads — ideal for model weights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Box 12"/>
          <p:cNvSpPr/>
          <p:nvPr/>
        </p:nvSpPr>
        <p:spPr>
          <a:xfrm>
            <a:off x="457200" y="3840480"/>
            <a:ext cx="109717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Why 0G is the right fit for Chaingammon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Rectangle 13"/>
          <p:cNvSpPr/>
          <p:nvPr/>
        </p:nvSpPr>
        <p:spPr>
          <a:xfrm>
            <a:off x="457200" y="4343400"/>
            <a:ext cx="5576760" cy="913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14"/>
          <p:cNvSpPr/>
          <p:nvPr/>
        </p:nvSpPr>
        <p:spPr>
          <a:xfrm>
            <a:off x="594360" y="43891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Content-addressed linking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Box 15"/>
          <p:cNvSpPr/>
          <p:nvPr/>
        </p:nvSpPr>
        <p:spPr>
          <a:xfrm>
            <a:off x="594360" y="474588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rootHash returned by 0G Storage is committed in MatchRegistry on Sepolia — chain ⇔ storage in one atomic reference.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Rectangle 16"/>
          <p:cNvSpPr/>
          <p:nvPr/>
        </p:nvSpPr>
        <p:spPr>
          <a:xfrm>
            <a:off x="6309360" y="4343400"/>
            <a:ext cx="5576760" cy="913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17"/>
          <p:cNvSpPr/>
          <p:nvPr/>
        </p:nvSpPr>
        <p:spPr>
          <a:xfrm>
            <a:off x="6446520" y="43891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AI-native storage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Box 18"/>
          <p:cNvSpPr/>
          <p:nvPr/>
        </p:nvSpPr>
        <p:spPr>
          <a:xfrm>
            <a:off x="6446520" y="474588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starter weights and per-agent trained checkpoints (~10K params) live in 0G Blob. 0G was built for exactly this.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Rectangle 19"/>
          <p:cNvSpPr/>
          <p:nvPr/>
        </p:nvSpPr>
        <p:spPr>
          <a:xfrm>
            <a:off x="457200" y="5349240"/>
            <a:ext cx="5576760" cy="913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0"/>
          <p:cNvSpPr/>
          <p:nvPr/>
        </p:nvSpPr>
        <p:spPr>
          <a:xfrm>
            <a:off x="594360" y="539496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Immutable audit trail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21"/>
          <p:cNvSpPr/>
          <p:nvPr/>
        </p:nvSpPr>
        <p:spPr>
          <a:xfrm>
            <a:off x="594360" y="575172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Log type is append-only. Game records and KeeperHub audit JSONs persist forever without IPFS pinning risk.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ectangle 22"/>
          <p:cNvSpPr/>
          <p:nvPr/>
        </p:nvSpPr>
        <p:spPr>
          <a:xfrm>
            <a:off x="6309360" y="5349240"/>
            <a:ext cx="5576760" cy="913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23"/>
          <p:cNvSpPr/>
          <p:nvPr/>
        </p:nvSpPr>
        <p:spPr>
          <a:xfrm>
            <a:off x="6446520" y="539496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One chain, one SDK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24"/>
          <p:cNvSpPr/>
          <p:nvPr/>
        </p:nvSpPr>
        <p:spPr>
          <a:xfrm>
            <a:off x="6446520" y="575172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og-bridge wraps @0glabs/0g-ts-sdk for Storage; @0glabs/0g-serving-broker drives Compute via Next.js Route Handlers.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KEEPERHUB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Programmable keeper automation for multi-step Web3 workflows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4572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What is KeeperHub?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5"/>
          <p:cNvSpPr/>
          <p:nvPr/>
        </p:nvSpPr>
        <p:spPr>
          <a:xfrm>
            <a:off x="457200" y="2011680"/>
            <a:ext cx="539388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 network: third-party bots watch for triggers and execute arbitrary on-chain transactions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Workflow engine: define ordered steps with retry logic, gas configuration, and conditional branching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Triggers: HTTP webhooks, on-chain events, cron schedules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Audit-first: every workflow run produces a full execution trace with timestamps, retries, and gas used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Decoupled from the app: KeeperHub will execute even if your server goes offline after firing the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Box 6"/>
          <p:cNvSpPr/>
          <p:nvPr/>
        </p:nvSpPr>
        <p:spPr>
          <a:xfrm>
            <a:off x="457200" y="50749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vs. doing settlement in the server: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7"/>
          <p:cNvSpPr/>
          <p:nvPr/>
        </p:nvSpPr>
        <p:spPr>
          <a:xfrm>
            <a:off x="457200" y="5486400"/>
            <a:ext cx="539388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crashes mid-settlement → KeeperHub retries independently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Gas spikes → KeeperHub optimizes and resubmits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4 contract calls in sequence → one atomic workflow definition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Compliance / audit → signed execution receipts, not server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Chaingammon settlement workflow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ectangle 9"/>
          <p:cNvSpPr/>
          <p:nvPr/>
        </p:nvSpPr>
        <p:spPr>
          <a:xfrm>
            <a:off x="6400800" y="20116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Rectangle 10"/>
          <p:cNvSpPr/>
          <p:nvPr/>
        </p:nvSpPr>
        <p:spPr>
          <a:xfrm>
            <a:off x="6400800" y="2011680"/>
            <a:ext cx="181800" cy="8035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11"/>
          <p:cNvSpPr/>
          <p:nvPr/>
        </p:nvSpPr>
        <p:spPr>
          <a:xfrm>
            <a:off x="6675120" y="204840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Event-driven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Box 12"/>
          <p:cNvSpPr/>
          <p:nvPr/>
        </p:nvSpPr>
        <p:spPr>
          <a:xfrm>
            <a:off x="6675120" y="241416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Fires on both MatchEscrow.Deposited events for matchId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3"/>
          <p:cNvSpPr/>
          <p:nvPr/>
        </p:nvSpPr>
        <p:spPr>
          <a:xfrm>
            <a:off x="6473880" y="281628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Rectangle 14"/>
          <p:cNvSpPr/>
          <p:nvPr/>
        </p:nvSpPr>
        <p:spPr>
          <a:xfrm>
            <a:off x="6400800" y="289872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Rectangle 15"/>
          <p:cNvSpPr/>
          <p:nvPr/>
        </p:nvSpPr>
        <p:spPr>
          <a:xfrm>
            <a:off x="6400800" y="2898720"/>
            <a:ext cx="181800" cy="8035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6675120" y="293508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recordMatchAndSplit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6675120" y="330084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MatchRegistry.recordMatchAndSplit(...args, winners[], shares[]) → atomic settle + payout on Sepolia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18"/>
          <p:cNvSpPr/>
          <p:nvPr/>
        </p:nvSpPr>
        <p:spPr>
          <a:xfrm>
            <a:off x="6473880" y="370332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ectangle 19"/>
          <p:cNvSpPr/>
          <p:nvPr/>
        </p:nvSpPr>
        <p:spPr>
          <a:xfrm>
            <a:off x="6400800" y="378576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Rectangle 20"/>
          <p:cNvSpPr/>
          <p:nvPr/>
        </p:nvSpPr>
        <p:spPr>
          <a:xfrm>
            <a:off x="6400800" y="3785760"/>
            <a:ext cx="181800" cy="8035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21"/>
          <p:cNvSpPr/>
          <p:nvPr/>
        </p:nvSpPr>
        <p:spPr>
          <a:xfrm>
            <a:off x="6675120" y="382212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ENS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22"/>
          <p:cNvSpPr/>
          <p:nvPr/>
        </p:nvSpPr>
        <p:spPr>
          <a:xfrm>
            <a:off x="6675120" y="41878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setText on alice.chaingammon.eth and opponent: elo, match_count, last_match_id, kind, inft_id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3"/>
          <p:cNvSpPr/>
          <p:nvPr/>
        </p:nvSpPr>
        <p:spPr>
          <a:xfrm>
            <a:off x="6473880" y="459036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ectangle 24"/>
          <p:cNvSpPr/>
          <p:nvPr/>
        </p:nvSpPr>
        <p:spPr>
          <a:xfrm>
            <a:off x="6400800" y="46724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Rectangle 25"/>
          <p:cNvSpPr/>
          <p:nvPr/>
        </p:nvSpPr>
        <p:spPr>
          <a:xfrm>
            <a:off x="6400800" y="4672440"/>
            <a:ext cx="181800" cy="80352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26"/>
          <p:cNvSpPr/>
          <p:nvPr/>
        </p:nvSpPr>
        <p:spPr>
          <a:xfrm>
            <a:off x="6675120" y="470916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updateOverlayHash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7"/>
          <p:cNvSpPr/>
          <p:nvPr/>
        </p:nvSpPr>
        <p:spPr>
          <a:xfrm>
            <a:off x="6675120" y="507492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AgentRegistry.updateOverlayHash(agentId, newCheckpointHash) bumps experienceVersion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28"/>
          <p:cNvSpPr/>
          <p:nvPr/>
        </p:nvSpPr>
        <p:spPr>
          <a:xfrm>
            <a:off x="6473880" y="547740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Rectangle 29"/>
          <p:cNvSpPr/>
          <p:nvPr/>
        </p:nvSpPr>
        <p:spPr>
          <a:xfrm>
            <a:off x="6400800" y="55594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30"/>
          <p:cNvSpPr/>
          <p:nvPr/>
        </p:nvSpPr>
        <p:spPr>
          <a:xfrm>
            <a:off x="6400800" y="5559480"/>
            <a:ext cx="181800" cy="80352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31"/>
          <p:cNvSpPr/>
          <p:nvPr/>
        </p:nvSpPr>
        <p:spPr>
          <a:xfrm>
            <a:off x="6675120" y="559620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Audit export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32"/>
          <p:cNvSpPr/>
          <p:nvPr/>
        </p:nvSpPr>
        <p:spPr>
          <a:xfrm>
            <a:off x="6675120" y="596196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Full trace → 0G Storage Log → publicly viewable settlement proof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Box 33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keeperhub/match-settle.yaml defines the 7-step event-driven workflow.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AI AGENTS AS iNFTs  (ERC-7857)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Agents that carry verifiable, portable intelligence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Box 4"/>
          <p:cNvSpPr/>
          <p:nvPr/>
        </p:nvSpPr>
        <p:spPr>
          <a:xfrm>
            <a:off x="548640" y="160020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Two data hashes per iNFT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457200" y="2148840"/>
            <a:ext cx="5485320" cy="169056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6"/>
          <p:cNvSpPr/>
          <p:nvPr/>
        </p:nvSpPr>
        <p:spPr>
          <a:xfrm>
            <a:off x="640080" y="224028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dataHashes[0]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640080" y="2514600"/>
            <a:ext cx="5028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baseWeightsHash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640080" y="2834640"/>
            <a:ext cx="502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gnubg-initialised starter weights —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feedforward NN (Tesauro encoding) on 0G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Same starting point for every agent.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Rectangle 9"/>
          <p:cNvSpPr/>
          <p:nvPr/>
        </p:nvSpPr>
        <p:spPr>
          <a:xfrm>
            <a:off x="457200" y="4069080"/>
            <a:ext cx="5485320" cy="169056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640080" y="416052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11"/>
          <p:cNvSpPr/>
          <p:nvPr/>
        </p:nvSpPr>
        <p:spPr>
          <a:xfrm>
            <a:off x="640080" y="4434840"/>
            <a:ext cx="5028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checkpointHash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640080" y="4754880"/>
            <a:ext cx="502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Per-agent trained NN checkpoint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(~10K params, TD-λ self-play); rewritten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after every refereed match.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6492240" y="1600200"/>
            <a:ext cx="5028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Tier system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ectangle 14"/>
          <p:cNvSpPr/>
          <p:nvPr/>
        </p:nvSpPr>
        <p:spPr>
          <a:xfrm>
            <a:off x="6492240" y="2148840"/>
            <a:ext cx="5302440" cy="86760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6583680" y="219456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7498080" y="219456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Beginner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7"/>
          <p:cNvSpPr/>
          <p:nvPr/>
        </p:nvSpPr>
        <p:spPr>
          <a:xfrm>
            <a:off x="6583680" y="256032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0-ply (immediate eval)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Rectangle 18"/>
          <p:cNvSpPr/>
          <p:nvPr/>
        </p:nvSpPr>
        <p:spPr>
          <a:xfrm>
            <a:off x="6492240" y="3154680"/>
            <a:ext cx="5302440" cy="86760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6583680" y="320040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0"/>
          <p:cNvSpPr/>
          <p:nvPr/>
        </p:nvSpPr>
        <p:spPr>
          <a:xfrm>
            <a:off x="7498080" y="320040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Intermediate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6583680" y="356616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2-ply (looks 2 moves ahead)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Rectangle 22"/>
          <p:cNvSpPr/>
          <p:nvPr/>
        </p:nvSpPr>
        <p:spPr>
          <a:xfrm>
            <a:off x="6492240" y="4160520"/>
            <a:ext cx="5302440" cy="86760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6583680" y="420624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Box 24"/>
          <p:cNvSpPr/>
          <p:nvPr/>
        </p:nvSpPr>
        <p:spPr>
          <a:xfrm>
            <a:off x="7498080" y="420624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Advanced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6583680" y="457200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3-ply (deeper search)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ectangle 26"/>
          <p:cNvSpPr/>
          <p:nvPr/>
        </p:nvSpPr>
        <p:spPr>
          <a:xfrm>
            <a:off x="6492240" y="5166360"/>
            <a:ext cx="5302440" cy="86760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6583680" y="521208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28"/>
          <p:cNvSpPr/>
          <p:nvPr/>
        </p:nvSpPr>
        <p:spPr>
          <a:xfrm>
            <a:off x="7498080" y="521208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World-class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6583680" y="557784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full rollout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6492240" y="6080760"/>
            <a:ext cx="530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00d4aa"/>
                </a:solidFill>
                <a:latin typeface="Calibri"/>
              </a:rPr>
              <a:t>Two same-tier agents start identically — then drift into different styles as their match histories diverge.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502920"/>
            <a:ext cx="12188160" cy="45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457200" y="109800"/>
            <a:ext cx="11273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Arial"/>
              </a:rPr>
              <a:t>PER-AGENT VALUE-NET LEARNING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457200" y="560160"/>
            <a:ext cx="11273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</a:rPr>
              <a:t>Neural-network position evaluation + TD-λ self-play training + look-ahead depth = a unique, evolving player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ectangle 4"/>
          <p:cNvSpPr/>
          <p:nvPr/>
        </p:nvSpPr>
        <p:spPr>
          <a:xfrm>
            <a:off x="457200" y="1000080"/>
            <a:ext cx="299916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6c63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5"/>
          <p:cNvSpPr/>
          <p:nvPr/>
        </p:nvSpPr>
        <p:spPr>
          <a:xfrm>
            <a:off x="3777120" y="1000080"/>
            <a:ext cx="319932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00d4a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Rectangle 6"/>
          <p:cNvSpPr/>
          <p:nvPr/>
        </p:nvSpPr>
        <p:spPr>
          <a:xfrm>
            <a:off x="7297200" y="1000080"/>
            <a:ext cx="443376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ffc84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7"/>
          <p:cNvSpPr/>
          <p:nvPr/>
        </p:nvSpPr>
        <p:spPr>
          <a:xfrm>
            <a:off x="557280" y="1100160"/>
            <a:ext cx="2799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6c63ff"/>
                </a:solidFill>
                <a:latin typeface="Arial"/>
              </a:rPr>
              <a:t>Board Position Vector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8"/>
          <p:cNvSpPr/>
          <p:nvPr/>
        </p:nvSpPr>
        <p:spPr>
          <a:xfrm>
            <a:off x="3877200" y="1100160"/>
            <a:ext cx="2999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Arial"/>
              </a:rPr>
              <a:t>Career Context (style biases)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9"/>
          <p:cNvSpPr/>
          <p:nvPr/>
        </p:nvSpPr>
        <p:spPr>
          <a:xfrm>
            <a:off x="7397280" y="1100160"/>
            <a:ext cx="423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Arial"/>
              </a:rPr>
              <a:t>Ply Depth → Skill Level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10"/>
          <p:cNvSpPr/>
          <p:nvPr/>
        </p:nvSpPr>
        <p:spPr>
          <a:xfrm>
            <a:off x="3457080" y="3598920"/>
            <a:ext cx="31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aaaabb"/>
                </a:solidFill>
                <a:latin typeface="Arial"/>
              </a:rPr>
              <a:t>+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Box 11"/>
          <p:cNvSpPr/>
          <p:nvPr/>
        </p:nvSpPr>
        <p:spPr>
          <a:xfrm>
            <a:off x="6977160" y="3598920"/>
            <a:ext cx="31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aaaabb"/>
                </a:solidFill>
                <a:latin typeface="Arial"/>
              </a:rPr>
              <a:t>→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12"/>
          <p:cNvSpPr/>
          <p:nvPr/>
        </p:nvSpPr>
        <p:spPr>
          <a:xfrm>
            <a:off x="557280" y="1419840"/>
            <a:ext cx="2799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185-float board encoding (sample entries):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Rectangle 13"/>
          <p:cNvSpPr/>
          <p:nvPr/>
        </p:nvSpPr>
        <p:spPr>
          <a:xfrm>
            <a:off x="537120" y="165996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14"/>
          <p:cNvSpPr/>
          <p:nvPr/>
        </p:nvSpPr>
        <p:spPr>
          <a:xfrm>
            <a:off x="617040" y="169992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point_6_own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Box 15"/>
          <p:cNvSpPr/>
          <p:nvPr/>
        </p:nvSpPr>
        <p:spPr>
          <a:xfrm>
            <a:off x="2297160" y="169992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16"/>
          <p:cNvSpPr/>
          <p:nvPr/>
        </p:nvSpPr>
        <p:spPr>
          <a:xfrm>
            <a:off x="617040" y="199008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point_8_own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17"/>
          <p:cNvSpPr/>
          <p:nvPr/>
        </p:nvSpPr>
        <p:spPr>
          <a:xfrm>
            <a:off x="2297160" y="199008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Rectangle 18"/>
          <p:cNvSpPr/>
          <p:nvPr/>
        </p:nvSpPr>
        <p:spPr>
          <a:xfrm>
            <a:off x="537120" y="223992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19"/>
          <p:cNvSpPr/>
          <p:nvPr/>
        </p:nvSpPr>
        <p:spPr>
          <a:xfrm>
            <a:off x="617040" y="227988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point_13_own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Box 20"/>
          <p:cNvSpPr/>
          <p:nvPr/>
        </p:nvSpPr>
        <p:spPr>
          <a:xfrm>
            <a:off x="2297160" y="227988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21"/>
          <p:cNvSpPr/>
          <p:nvPr/>
        </p:nvSpPr>
        <p:spPr>
          <a:xfrm>
            <a:off x="617040" y="257004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point_24_own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22"/>
          <p:cNvSpPr/>
          <p:nvPr/>
        </p:nvSpPr>
        <p:spPr>
          <a:xfrm>
            <a:off x="2297160" y="257004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Rectangle 23"/>
          <p:cNvSpPr/>
          <p:nvPr/>
        </p:nvSpPr>
        <p:spPr>
          <a:xfrm>
            <a:off x="537120" y="281988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TextBox 24"/>
          <p:cNvSpPr/>
          <p:nvPr/>
        </p:nvSpPr>
        <p:spPr>
          <a:xfrm>
            <a:off x="617040" y="285984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point_1_opp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Box 25"/>
          <p:cNvSpPr/>
          <p:nvPr/>
        </p:nvSpPr>
        <p:spPr>
          <a:xfrm>
            <a:off x="2297160" y="285984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Box 26"/>
          <p:cNvSpPr/>
          <p:nvPr/>
        </p:nvSpPr>
        <p:spPr>
          <a:xfrm>
            <a:off x="617040" y="315000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pip_count_self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27"/>
          <p:cNvSpPr/>
          <p:nvPr/>
        </p:nvSpPr>
        <p:spPr>
          <a:xfrm>
            <a:off x="2297160" y="315000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167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ectangle 28"/>
          <p:cNvSpPr/>
          <p:nvPr/>
        </p:nvSpPr>
        <p:spPr>
          <a:xfrm>
            <a:off x="537120" y="339984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617040" y="344016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pip_count_opp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Box 30"/>
          <p:cNvSpPr/>
          <p:nvPr/>
        </p:nvSpPr>
        <p:spPr>
          <a:xfrm>
            <a:off x="2297160" y="344016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143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31"/>
          <p:cNvSpPr/>
          <p:nvPr/>
        </p:nvSpPr>
        <p:spPr>
          <a:xfrm>
            <a:off x="617040" y="372996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on_bar_self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32"/>
          <p:cNvSpPr/>
          <p:nvPr/>
        </p:nvSpPr>
        <p:spPr>
          <a:xfrm>
            <a:off x="2297160" y="372996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Rectangle 33"/>
          <p:cNvSpPr/>
          <p:nvPr/>
        </p:nvSpPr>
        <p:spPr>
          <a:xfrm>
            <a:off x="537120" y="398016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34"/>
          <p:cNvSpPr/>
          <p:nvPr/>
        </p:nvSpPr>
        <p:spPr>
          <a:xfrm>
            <a:off x="617040" y="402012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  </a:t>
            </a: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(177 more)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Box 35"/>
          <p:cNvSpPr/>
          <p:nvPr/>
        </p:nvSpPr>
        <p:spPr>
          <a:xfrm>
            <a:off x="2297160" y="402012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Rectangle 36"/>
          <p:cNvSpPr/>
          <p:nvPr/>
        </p:nvSpPr>
        <p:spPr>
          <a:xfrm>
            <a:off x="557280" y="4320000"/>
            <a:ext cx="2799360" cy="359280"/>
          </a:xfrm>
          <a:prstGeom prst="rect">
            <a:avLst/>
          </a:prstGeom>
          <a:solidFill>
            <a:srgbClr val="1e1e3a"/>
          </a:solidFill>
          <a:ln w="19050">
            <a:solidFill>
              <a:srgbClr val="6c63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37"/>
          <p:cNvSpPr/>
          <p:nvPr/>
        </p:nvSpPr>
        <p:spPr>
          <a:xfrm>
            <a:off x="607320" y="4370040"/>
            <a:ext cx="269928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6c63ff"/>
                </a:solidFill>
                <a:latin typeface="Arial"/>
              </a:rPr>
              <a:t>Base case — untrained NN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Arial"/>
              </a:rPr>
              <a:t>Init from gnubg's published weights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→ </a:t>
            </a: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pure gnubg equity, no personality.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Every new agent starts identical.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8"/>
          <p:cNvSpPr/>
          <p:nvPr/>
        </p:nvSpPr>
        <p:spPr>
          <a:xfrm>
            <a:off x="3877200" y="1419840"/>
            <a:ext cx="299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Per-agent style biases (illustrative; the actual extras head is 16-d):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9"/>
          <p:cNvSpPr/>
          <p:nvPr/>
        </p:nvSpPr>
        <p:spPr>
          <a:xfrm>
            <a:off x="5977080" y="1654920"/>
            <a:ext cx="4194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day 0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Box 40"/>
          <p:cNvSpPr/>
          <p:nvPr/>
        </p:nvSpPr>
        <p:spPr>
          <a:xfrm>
            <a:off x="6457320" y="1654920"/>
            <a:ext cx="41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800" spc="-1" strike="noStrike">
                <a:solidFill>
                  <a:srgbClr val="00d4aa"/>
                </a:solidFill>
                <a:latin typeface="Arial"/>
              </a:rPr>
              <a:t>50 games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ectangle 41"/>
          <p:cNvSpPr/>
          <p:nvPr/>
        </p:nvSpPr>
        <p:spPr>
          <a:xfrm>
            <a:off x="3857040" y="187488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42"/>
          <p:cNvSpPr/>
          <p:nvPr/>
        </p:nvSpPr>
        <p:spPr>
          <a:xfrm>
            <a:off x="3937320" y="19148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opening_slot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Box 43"/>
          <p:cNvSpPr/>
          <p:nvPr/>
        </p:nvSpPr>
        <p:spPr>
          <a:xfrm>
            <a:off x="5977080" y="19148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Box 44"/>
          <p:cNvSpPr/>
          <p:nvPr/>
        </p:nvSpPr>
        <p:spPr>
          <a:xfrm>
            <a:off x="6457320" y="19148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+0.42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Box 45"/>
          <p:cNvSpPr/>
          <p:nvPr/>
        </p:nvSpPr>
        <p:spPr>
          <a:xfrm>
            <a:off x="3937320" y="220500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build_5_point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Box 46"/>
          <p:cNvSpPr/>
          <p:nvPr/>
        </p:nvSpPr>
        <p:spPr>
          <a:xfrm>
            <a:off x="5977080" y="220500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47"/>
          <p:cNvSpPr/>
          <p:nvPr/>
        </p:nvSpPr>
        <p:spPr>
          <a:xfrm>
            <a:off x="6457320" y="220500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+0.31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ectangle 48"/>
          <p:cNvSpPr/>
          <p:nvPr/>
        </p:nvSpPr>
        <p:spPr>
          <a:xfrm>
            <a:off x="3857040" y="245484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49"/>
          <p:cNvSpPr/>
          <p:nvPr/>
        </p:nvSpPr>
        <p:spPr>
          <a:xfrm>
            <a:off x="3937320" y="249516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build_bar_point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50"/>
          <p:cNvSpPr/>
          <p:nvPr/>
        </p:nvSpPr>
        <p:spPr>
          <a:xfrm>
            <a:off x="5977080" y="24951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Box 51"/>
          <p:cNvSpPr/>
          <p:nvPr/>
        </p:nvSpPr>
        <p:spPr>
          <a:xfrm>
            <a:off x="6457320" y="249516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-0.05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Box 52"/>
          <p:cNvSpPr/>
          <p:nvPr/>
        </p:nvSpPr>
        <p:spPr>
          <a:xfrm>
            <a:off x="3937320" y="278496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bearoff_efficient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Box 53"/>
          <p:cNvSpPr/>
          <p:nvPr/>
        </p:nvSpPr>
        <p:spPr>
          <a:xfrm>
            <a:off x="5977080" y="27849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54"/>
          <p:cNvSpPr/>
          <p:nvPr/>
        </p:nvSpPr>
        <p:spPr>
          <a:xfrm>
            <a:off x="6457320" y="27849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Rectangle 55"/>
          <p:cNvSpPr/>
          <p:nvPr/>
        </p:nvSpPr>
        <p:spPr>
          <a:xfrm>
            <a:off x="3857040" y="303516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56"/>
          <p:cNvSpPr/>
          <p:nvPr/>
        </p:nvSpPr>
        <p:spPr>
          <a:xfrm>
            <a:off x="3937320" y="307512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risk_blot_leaving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57"/>
          <p:cNvSpPr/>
          <p:nvPr/>
        </p:nvSpPr>
        <p:spPr>
          <a:xfrm>
            <a:off x="5977080" y="30751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58"/>
          <p:cNvSpPr/>
          <p:nvPr/>
        </p:nvSpPr>
        <p:spPr>
          <a:xfrm>
            <a:off x="6457320" y="307512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-0.21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Box 59"/>
          <p:cNvSpPr/>
          <p:nvPr/>
        </p:nvSpPr>
        <p:spPr>
          <a:xfrm>
            <a:off x="3937320" y="336492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hits_blot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Box 60"/>
          <p:cNvSpPr/>
          <p:nvPr/>
        </p:nvSpPr>
        <p:spPr>
          <a:xfrm>
            <a:off x="5977080" y="33649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Box 61"/>
          <p:cNvSpPr/>
          <p:nvPr/>
        </p:nvSpPr>
        <p:spPr>
          <a:xfrm>
            <a:off x="6457320" y="33649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Rectangle 62"/>
          <p:cNvSpPr/>
          <p:nvPr/>
        </p:nvSpPr>
        <p:spPr>
          <a:xfrm>
            <a:off x="3857040" y="361512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" name="TextBox 63"/>
          <p:cNvSpPr/>
          <p:nvPr/>
        </p:nvSpPr>
        <p:spPr>
          <a:xfrm>
            <a:off x="3937320" y="365508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anchors_back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64"/>
          <p:cNvSpPr/>
          <p:nvPr/>
        </p:nvSpPr>
        <p:spPr>
          <a:xfrm>
            <a:off x="5977080" y="36550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65"/>
          <p:cNvSpPr/>
          <p:nvPr/>
        </p:nvSpPr>
        <p:spPr>
          <a:xfrm>
            <a:off x="6457320" y="36550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+0.26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Box 66"/>
          <p:cNvSpPr/>
          <p:nvPr/>
        </p:nvSpPr>
        <p:spPr>
          <a:xfrm>
            <a:off x="3937320" y="394488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phase_prime_building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Box 67"/>
          <p:cNvSpPr/>
          <p:nvPr/>
        </p:nvSpPr>
        <p:spPr>
          <a:xfrm>
            <a:off x="5977080" y="39448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68"/>
          <p:cNvSpPr/>
          <p:nvPr/>
        </p:nvSpPr>
        <p:spPr>
          <a:xfrm>
            <a:off x="6457320" y="39448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ectangle 69"/>
          <p:cNvSpPr/>
          <p:nvPr/>
        </p:nvSpPr>
        <p:spPr>
          <a:xfrm>
            <a:off x="3857040" y="419508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TextBox 70"/>
          <p:cNvSpPr/>
          <p:nvPr/>
        </p:nvSpPr>
        <p:spPr>
          <a:xfrm>
            <a:off x="3937320" y="42350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phase_blitz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Box 71"/>
          <p:cNvSpPr/>
          <p:nvPr/>
        </p:nvSpPr>
        <p:spPr>
          <a:xfrm>
            <a:off x="5977080" y="42350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Box 72"/>
          <p:cNvSpPr/>
          <p:nvPr/>
        </p:nvSpPr>
        <p:spPr>
          <a:xfrm>
            <a:off x="6457320" y="423504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-0.08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73"/>
          <p:cNvSpPr/>
          <p:nvPr/>
        </p:nvSpPr>
        <p:spPr>
          <a:xfrm>
            <a:off x="3937320" y="45248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  </a:t>
            </a: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(11 more)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74"/>
          <p:cNvSpPr/>
          <p:nvPr/>
        </p:nvSpPr>
        <p:spPr>
          <a:xfrm>
            <a:off x="5977080" y="4524840"/>
            <a:ext cx="419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75"/>
          <p:cNvSpPr/>
          <p:nvPr/>
        </p:nvSpPr>
        <p:spPr>
          <a:xfrm>
            <a:off x="6457320" y="4524840"/>
            <a:ext cx="419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aaaabb"/>
                </a:solidFill>
                <a:latin typeface="Arial"/>
              </a:rPr>
              <a:t>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Rectangle 76"/>
          <p:cNvSpPr/>
          <p:nvPr/>
        </p:nvSpPr>
        <p:spPr>
          <a:xfrm>
            <a:off x="3877200" y="4820040"/>
            <a:ext cx="2999160" cy="399240"/>
          </a:xfrm>
          <a:prstGeom prst="rect">
            <a:avLst/>
          </a:prstGeom>
          <a:solidFill>
            <a:srgbClr val="1e1e3a"/>
          </a:solidFill>
          <a:ln w="19050">
            <a:solidFill>
              <a:srgbClr val="00d4a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77"/>
          <p:cNvSpPr/>
          <p:nvPr/>
        </p:nvSpPr>
        <p:spPr>
          <a:xfrm>
            <a:off x="3927240" y="4865040"/>
            <a:ext cx="289944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00d4aa"/>
                </a:solidFill>
                <a:latin typeface="Arial"/>
              </a:rPr>
              <a:t>Post-match update rule (TD-λ):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</a:rPr>
              <a:t>θ ← θ + α · δ_t · e_t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δ_t = r_{t+1} + γ · V(s_{t+1}; θ) − V(s_t; θ)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e_t = γλ · e_{t−1} + ∇_θ V(s_t; θ)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Box 78"/>
          <p:cNvSpPr/>
          <p:nvPr/>
        </p:nvSpPr>
        <p:spPr>
          <a:xfrm>
            <a:off x="7397280" y="1419840"/>
            <a:ext cx="4233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gnubg evaluates N plies before picking a move: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Rectangle 79"/>
          <p:cNvSpPr/>
          <p:nvPr/>
        </p:nvSpPr>
        <p:spPr>
          <a:xfrm>
            <a:off x="7377120" y="165996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80"/>
          <p:cNvSpPr/>
          <p:nvPr/>
        </p:nvSpPr>
        <p:spPr>
          <a:xfrm>
            <a:off x="7447320" y="171000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81"/>
          <p:cNvSpPr/>
          <p:nvPr/>
        </p:nvSpPr>
        <p:spPr>
          <a:xfrm>
            <a:off x="7447320" y="171000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0-ply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Box 82"/>
          <p:cNvSpPr/>
          <p:nvPr/>
        </p:nvSpPr>
        <p:spPr>
          <a:xfrm>
            <a:off x="7867080" y="170496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Beginner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83"/>
          <p:cNvSpPr/>
          <p:nvPr/>
        </p:nvSpPr>
        <p:spPr>
          <a:xfrm>
            <a:off x="7867080" y="191016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NN(board) → argmax. Single eval, no search.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ectangle 84"/>
          <p:cNvSpPr/>
          <p:nvPr/>
        </p:nvSpPr>
        <p:spPr>
          <a:xfrm>
            <a:off x="7377120" y="2629440"/>
            <a:ext cx="4273920" cy="94896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" name="Rectangle 85"/>
          <p:cNvSpPr/>
          <p:nvPr/>
        </p:nvSpPr>
        <p:spPr>
          <a:xfrm>
            <a:off x="7447320" y="267948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86"/>
          <p:cNvSpPr/>
          <p:nvPr/>
        </p:nvSpPr>
        <p:spPr>
          <a:xfrm>
            <a:off x="7447320" y="267948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1-ply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Box 87"/>
          <p:cNvSpPr/>
          <p:nvPr/>
        </p:nvSpPr>
        <p:spPr>
          <a:xfrm>
            <a:off x="7867080" y="267444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Casual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88"/>
          <p:cNvSpPr/>
          <p:nvPr/>
        </p:nvSpPr>
        <p:spPr>
          <a:xfrm>
            <a:off x="7867080" y="287964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Try every legal move → NN(pos') → pick best.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ectangle 89"/>
          <p:cNvSpPr/>
          <p:nvPr/>
        </p:nvSpPr>
        <p:spPr>
          <a:xfrm>
            <a:off x="7377120" y="359928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Rectangle 90"/>
          <p:cNvSpPr/>
          <p:nvPr/>
        </p:nvSpPr>
        <p:spPr>
          <a:xfrm>
            <a:off x="7447320" y="364932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91"/>
          <p:cNvSpPr/>
          <p:nvPr/>
        </p:nvSpPr>
        <p:spPr>
          <a:xfrm>
            <a:off x="7447320" y="364932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2-ply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Box 92"/>
          <p:cNvSpPr/>
          <p:nvPr/>
        </p:nvSpPr>
        <p:spPr>
          <a:xfrm>
            <a:off x="7867080" y="364428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Intermediate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Box 93"/>
          <p:cNvSpPr/>
          <p:nvPr/>
        </p:nvSpPr>
        <p:spPr>
          <a:xfrm>
            <a:off x="7867080" y="3849120"/>
            <a:ext cx="376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Each move + opponent's best reply → NN(pos'') → pick best.  ~25× slower than 0-ply.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Rectangle 94"/>
          <p:cNvSpPr/>
          <p:nvPr/>
        </p:nvSpPr>
        <p:spPr>
          <a:xfrm>
            <a:off x="7377120" y="4568760"/>
            <a:ext cx="4273920" cy="94896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Rectangle 95"/>
          <p:cNvSpPr/>
          <p:nvPr/>
        </p:nvSpPr>
        <p:spPr>
          <a:xfrm>
            <a:off x="7447320" y="461880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96"/>
          <p:cNvSpPr/>
          <p:nvPr/>
        </p:nvSpPr>
        <p:spPr>
          <a:xfrm>
            <a:off x="7447320" y="461880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3-ply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Box 97"/>
          <p:cNvSpPr/>
          <p:nvPr/>
        </p:nvSpPr>
        <p:spPr>
          <a:xfrm>
            <a:off x="7867080" y="461376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Advanced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Box 98"/>
          <p:cNvSpPr/>
          <p:nvPr/>
        </p:nvSpPr>
        <p:spPr>
          <a:xfrm>
            <a:off x="7867080" y="481896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Two full plies + extra NN pass.  Equivalent to a strong club player.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ectangle 99"/>
          <p:cNvSpPr/>
          <p:nvPr/>
        </p:nvSpPr>
        <p:spPr>
          <a:xfrm>
            <a:off x="7377120" y="553824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100"/>
          <p:cNvSpPr/>
          <p:nvPr/>
        </p:nvSpPr>
        <p:spPr>
          <a:xfrm>
            <a:off x="7447320" y="558828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101"/>
          <p:cNvSpPr/>
          <p:nvPr/>
        </p:nvSpPr>
        <p:spPr>
          <a:xfrm>
            <a:off x="7447320" y="558828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rollout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102"/>
          <p:cNvSpPr/>
          <p:nvPr/>
        </p:nvSpPr>
        <p:spPr>
          <a:xfrm>
            <a:off x="7867080" y="558324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World-class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103"/>
          <p:cNvSpPr/>
          <p:nvPr/>
        </p:nvSpPr>
        <p:spPr>
          <a:xfrm>
            <a:off x="7867080" y="5788440"/>
            <a:ext cx="376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Monte Carlo: simulate N random-dice games from each candidate, average outcomes.  Most accurate, very slow.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Rectangle 104"/>
          <p:cNvSpPr/>
          <p:nvPr/>
        </p:nvSpPr>
        <p:spPr>
          <a:xfrm>
            <a:off x="0" y="6608160"/>
            <a:ext cx="12188160" cy="21924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105"/>
          <p:cNvSpPr/>
          <p:nvPr/>
        </p:nvSpPr>
        <p:spPr>
          <a:xfrm>
            <a:off x="457200" y="6648120"/>
            <a:ext cx="11273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score(move)  =  V(board_after_move; θ)     →   argmax over legal successors selects the move played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ELO RATINGS &amp; PREDICTION MARKETS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 transparent, on-chain skill ledger — and a betting primitive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4"/>
          <p:cNvSpPr/>
          <p:nvPr/>
        </p:nvSpPr>
        <p:spPr>
          <a:xfrm>
            <a:off x="457200" y="155448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How ELO works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ectangle 5"/>
          <p:cNvSpPr/>
          <p:nvPr/>
        </p:nvSpPr>
        <p:spPr>
          <a:xfrm>
            <a:off x="457200" y="2057400"/>
            <a:ext cx="5393880" cy="1553400"/>
          </a:xfrm>
          <a:prstGeom prst="rect">
            <a:avLst/>
          </a:prstGeom>
          <a:solidFill>
            <a:srgbClr val="141228"/>
          </a:solidFill>
          <a:ln w="1524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6"/>
          <p:cNvSpPr/>
          <p:nvPr/>
        </p:nvSpPr>
        <p:spPr>
          <a:xfrm>
            <a:off x="594360" y="2148840"/>
            <a:ext cx="5119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0d4aa"/>
                </a:solidFill>
                <a:latin typeface="Calibri"/>
              </a:rPr>
              <a:t>Eₐ = 1 / (1 + 10^((R_B − R_A) / 400))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Box 7"/>
          <p:cNvSpPr/>
          <p:nvPr/>
        </p:nvSpPr>
        <p:spPr>
          <a:xfrm>
            <a:off x="594360" y="2606040"/>
            <a:ext cx="5119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R_new = R_old + K × (score − Eₐ)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Box 8"/>
          <p:cNvSpPr/>
          <p:nvPr/>
        </p:nvSpPr>
        <p:spPr>
          <a:xfrm>
            <a:off x="594360" y="3017520"/>
            <a:ext cx="5119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 = 32 (rating change cap)   •   Starting rating = 1500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9"/>
          <p:cNvSpPr/>
          <p:nvPr/>
        </p:nvSpPr>
        <p:spPr>
          <a:xfrm>
            <a:off x="457200" y="374904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Rating gap  →  win probability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ectangle 10"/>
          <p:cNvSpPr/>
          <p:nvPr/>
        </p:nvSpPr>
        <p:spPr>
          <a:xfrm>
            <a:off x="457200" y="4160520"/>
            <a:ext cx="5393880" cy="392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TextBox 11"/>
          <p:cNvSpPr/>
          <p:nvPr/>
        </p:nvSpPr>
        <p:spPr>
          <a:xfrm>
            <a:off x="594360" y="419724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Δ0  (equal)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2"/>
          <p:cNvSpPr/>
          <p:nvPr/>
        </p:nvSpPr>
        <p:spPr>
          <a:xfrm>
            <a:off x="4114800" y="419724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50%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Rectangle 13"/>
          <p:cNvSpPr/>
          <p:nvPr/>
        </p:nvSpPr>
        <p:spPr>
          <a:xfrm>
            <a:off x="457200" y="4599360"/>
            <a:ext cx="5393880" cy="392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TextBox 14"/>
          <p:cNvSpPr/>
          <p:nvPr/>
        </p:nvSpPr>
        <p:spPr>
          <a:xfrm>
            <a:off x="594360" y="463608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Δ100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15"/>
          <p:cNvSpPr/>
          <p:nvPr/>
        </p:nvSpPr>
        <p:spPr>
          <a:xfrm>
            <a:off x="4114800" y="463608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64%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ectangle 16"/>
          <p:cNvSpPr/>
          <p:nvPr/>
        </p:nvSpPr>
        <p:spPr>
          <a:xfrm>
            <a:off x="457200" y="5038200"/>
            <a:ext cx="5393880" cy="392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17"/>
          <p:cNvSpPr/>
          <p:nvPr/>
        </p:nvSpPr>
        <p:spPr>
          <a:xfrm>
            <a:off x="594360" y="507492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Δ200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Box 18"/>
          <p:cNvSpPr/>
          <p:nvPr/>
        </p:nvSpPr>
        <p:spPr>
          <a:xfrm>
            <a:off x="4114800" y="507492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76%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ectangle 19"/>
          <p:cNvSpPr/>
          <p:nvPr/>
        </p:nvSpPr>
        <p:spPr>
          <a:xfrm>
            <a:off x="457200" y="5477400"/>
            <a:ext cx="5393880" cy="392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594360" y="551376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Δ400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Box 21"/>
          <p:cNvSpPr/>
          <p:nvPr/>
        </p:nvSpPr>
        <p:spPr>
          <a:xfrm>
            <a:off x="4114800" y="551376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91%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2"/>
          <p:cNvSpPr/>
          <p:nvPr/>
        </p:nvSpPr>
        <p:spPr>
          <a:xfrm>
            <a:off x="457200" y="608076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Chaingammon uses fixed-point integer ELO via EloMath.sol — no floats on-chain.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3"/>
          <p:cNvSpPr/>
          <p:nvPr/>
        </p:nvSpPr>
        <p:spPr>
          <a:xfrm>
            <a:off x="6400800" y="155448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Betting on players &amp; agents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Rectangle 24"/>
          <p:cNvSpPr/>
          <p:nvPr/>
        </p:nvSpPr>
        <p:spPr>
          <a:xfrm>
            <a:off x="6400800" y="205740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5"/>
          <p:cNvSpPr/>
          <p:nvPr/>
        </p:nvSpPr>
        <p:spPr>
          <a:xfrm>
            <a:off x="6537960" y="208476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Match odds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Box 26"/>
          <p:cNvSpPr/>
          <p:nvPr/>
        </p:nvSpPr>
        <p:spPr>
          <a:xfrm>
            <a:off x="6537960" y="242316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Derive fair odds directly from the ELO win-probability formula. A 200-point gap gives 76 / 24 fair odds — any market price away from that is +EV.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ectangle 27"/>
          <p:cNvSpPr/>
          <p:nvPr/>
        </p:nvSpPr>
        <p:spPr>
          <a:xfrm>
            <a:off x="6400800" y="296280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28"/>
          <p:cNvSpPr/>
          <p:nvPr/>
        </p:nvSpPr>
        <p:spPr>
          <a:xfrm>
            <a:off x="6537960" y="299016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ELO movement markets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Box 29"/>
          <p:cNvSpPr/>
          <p:nvPr/>
        </p:nvSpPr>
        <p:spPr>
          <a:xfrm>
            <a:off x="6537960" y="332856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Bet whether a player gains or loses N ELO over the next M games. Think prediction markets on skill trajectory.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ectangle 30"/>
          <p:cNvSpPr/>
          <p:nvPr/>
        </p:nvSpPr>
        <p:spPr>
          <a:xfrm>
            <a:off x="6400800" y="38678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31"/>
          <p:cNvSpPr/>
          <p:nvPr/>
        </p:nvSpPr>
        <p:spPr>
          <a:xfrm>
            <a:off x="6537960" y="38952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Equity-curve exposure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Box 32"/>
          <p:cNvSpPr/>
          <p:nvPr/>
        </p:nvSpPr>
        <p:spPr>
          <a:xfrm>
            <a:off x="6537960" y="423360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Buy a share of an agent’s future ELO gains. Agents with long on-chain histories show clean cumulative curves — verifiable Sharpe for a bot.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ectangle 33"/>
          <p:cNvSpPr/>
          <p:nvPr/>
        </p:nvSpPr>
        <p:spPr>
          <a:xfrm>
            <a:off x="6400800" y="477324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TextBox 34"/>
          <p:cNvSpPr/>
          <p:nvPr/>
        </p:nvSpPr>
        <p:spPr>
          <a:xfrm>
            <a:off x="6537960" y="48006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Kelly sizing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35"/>
          <p:cNvSpPr/>
          <p:nvPr/>
        </p:nvSpPr>
        <p:spPr>
          <a:xfrm>
            <a:off x="6537960" y="513900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Optimal bet% = edge / odds. With ELO-implied probability and on-chain match history, the edge estimate is transparent, not operator-controlled.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ectangle 36"/>
          <p:cNvSpPr/>
          <p:nvPr/>
        </p:nvSpPr>
        <p:spPr>
          <a:xfrm>
            <a:off x="6400800" y="56782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TextBox 37"/>
          <p:cNvSpPr/>
          <p:nvPr/>
        </p:nvSpPr>
        <p:spPr>
          <a:xfrm>
            <a:off x="6537960" y="57060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Agent performance futures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38"/>
          <p:cNvSpPr/>
          <p:nvPr/>
        </p:nvSpPr>
        <p:spPr>
          <a:xfrm>
            <a:off x="6537960" y="604404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Will an agent reach Tier 3 ELO within 100 matches? All inputs—match count, overlay hash—are public on 0G Chain.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39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d4aa"/>
                </a:solidFill>
                <a:latin typeface="Calibri"/>
              </a:rPr>
              <a:t>Every match, ELO delta, and overlay update is recorded on 0G Chain — no trust required.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SMART CONTRACTS ON SEPOLIA  (chainId 11155111)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Five contracts — Sepolia (canonical settlement) + 0G testnet (cross-chain demo)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Rectangle 4"/>
          <p:cNvSpPr/>
          <p:nvPr/>
        </p:nvSpPr>
        <p:spPr>
          <a:xfrm>
            <a:off x="457200" y="164592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Rectangle 5"/>
          <p:cNvSpPr/>
          <p:nvPr/>
        </p:nvSpPr>
        <p:spPr>
          <a:xfrm>
            <a:off x="457200" y="1645920"/>
            <a:ext cx="557676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6"/>
          <p:cNvSpPr/>
          <p:nvPr/>
        </p:nvSpPr>
        <p:spPr>
          <a:xfrm>
            <a:off x="567000" y="199332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MatchEscrow.sol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7"/>
          <p:cNvSpPr/>
          <p:nvPr/>
        </p:nvSpPr>
        <p:spPr>
          <a:xfrm>
            <a:off x="567000" y="242316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Per-side stake deposits + atomic payout.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deposit / refund / payoutSplit (N-way for team mode).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Settler-only payout, atomic with MatchRegistry.recordMatchAndSplit.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ectangle 8"/>
          <p:cNvSpPr/>
          <p:nvPr/>
        </p:nvSpPr>
        <p:spPr>
          <a:xfrm>
            <a:off x="6309360" y="164592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Rectangle 9"/>
          <p:cNvSpPr/>
          <p:nvPr/>
        </p:nvSpPr>
        <p:spPr>
          <a:xfrm>
            <a:off x="6309360" y="1645920"/>
            <a:ext cx="557676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10"/>
          <p:cNvSpPr/>
          <p:nvPr/>
        </p:nvSpPr>
        <p:spPr>
          <a:xfrm>
            <a:off x="6419160" y="199332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MatchRegistry.sol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1"/>
          <p:cNvSpPr/>
          <p:nvPr/>
        </p:nvSpPr>
        <p:spPr>
          <a:xfrm>
            <a:off x="6419160" y="242316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recordMatch + recordMatchAndSplit (atomic) + settleWithSessionKeys.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Stores MatchInfo struct with on-chain ↔ 0G Storage link via gameRecordHash.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EloMath library inside; emits MatchRecorded + EloUpdated events.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Rectangle 12"/>
          <p:cNvSpPr/>
          <p:nvPr/>
        </p:nvSpPr>
        <p:spPr>
          <a:xfrm>
            <a:off x="457200" y="402336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Rectangle 13"/>
          <p:cNvSpPr/>
          <p:nvPr/>
        </p:nvSpPr>
        <p:spPr>
          <a:xfrm>
            <a:off x="457200" y="4023360"/>
            <a:ext cx="557676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4"/>
          <p:cNvSpPr/>
          <p:nvPr/>
        </p:nvSpPr>
        <p:spPr>
          <a:xfrm>
            <a:off x="567000" y="437076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AgentRegistry.sol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Box 15"/>
          <p:cNvSpPr/>
          <p:nvPr/>
        </p:nvSpPr>
        <p:spPr>
          <a:xfrm>
            <a:off x="567000" y="480060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ERC-721 base + ERC-7857-compatible shape.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mintAgent(to, metadataURI, tier)  ·  setBaseWeightsHash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updateOverlayHash — bumps matchCount + experienceVersion.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ectangle 16"/>
          <p:cNvSpPr/>
          <p:nvPr/>
        </p:nvSpPr>
        <p:spPr>
          <a:xfrm>
            <a:off x="6309360" y="402336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707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Rectangle 17"/>
          <p:cNvSpPr/>
          <p:nvPr/>
        </p:nvSpPr>
        <p:spPr>
          <a:xfrm>
            <a:off x="6309360" y="4023360"/>
            <a:ext cx="5576760" cy="3189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18"/>
          <p:cNvSpPr/>
          <p:nvPr/>
        </p:nvSpPr>
        <p:spPr>
          <a:xfrm>
            <a:off x="6419160" y="437076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PlayerSubnameRegistrar.sol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Box 19"/>
          <p:cNvSpPr/>
          <p:nvPr/>
        </p:nvSpPr>
        <p:spPr>
          <a:xfrm>
            <a:off x="6419160" y="480060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Issues &lt;name&gt;.chaingammon.eth ENS subnames.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ENS NameWrapper subnames on Sepolia.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5 reserved text records: elo, match_count, last_match_id, kind, inft_id.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0G STORAGE — FOUR USES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Decentralised, content-addressed, permanent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ectangle 4"/>
          <p:cNvSpPr/>
          <p:nvPr/>
        </p:nvSpPr>
        <p:spPr>
          <a:xfrm>
            <a:off x="274320" y="1600200"/>
            <a:ext cx="163440" cy="7761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5"/>
          <p:cNvSpPr/>
          <p:nvPr/>
        </p:nvSpPr>
        <p:spPr>
          <a:xfrm>
            <a:off x="548640" y="161856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6"/>
          <p:cNvSpPr/>
          <p:nvPr/>
        </p:nvSpPr>
        <p:spPr>
          <a:xfrm>
            <a:off x="2468880" y="161856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Game record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7"/>
          <p:cNvSpPr/>
          <p:nvPr/>
        </p:nvSpPr>
        <p:spPr>
          <a:xfrm>
            <a:off x="4937760" y="161856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GameRecord JSON: every move, dice, cube action, gnubg position IDs. ~2–10 KB. rootHash committed in MatchRegistry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Rectangle 8"/>
          <p:cNvSpPr/>
          <p:nvPr/>
        </p:nvSpPr>
        <p:spPr>
          <a:xfrm>
            <a:off x="274320" y="239580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Rectangle 9"/>
          <p:cNvSpPr/>
          <p:nvPr/>
        </p:nvSpPr>
        <p:spPr>
          <a:xfrm>
            <a:off x="274320" y="2560320"/>
            <a:ext cx="163440" cy="7761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10"/>
          <p:cNvSpPr/>
          <p:nvPr/>
        </p:nvSpPr>
        <p:spPr>
          <a:xfrm>
            <a:off x="548640" y="257868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0d4aa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Box 11"/>
          <p:cNvSpPr/>
          <p:nvPr/>
        </p:nvSpPr>
        <p:spPr>
          <a:xfrm>
            <a:off x="2468880" y="257868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KeeperHub audit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Box 12"/>
          <p:cNvSpPr/>
          <p:nvPr/>
        </p:nvSpPr>
        <p:spPr>
          <a:xfrm>
            <a:off x="4937760" y="257868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Settlement workflow trace: timestamps, retries, gas, step results. Mirrored so it's publicly viewable without KeeperHub login.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ectangle 13"/>
          <p:cNvSpPr/>
          <p:nvPr/>
        </p:nvSpPr>
        <p:spPr>
          <a:xfrm>
            <a:off x="274320" y="335592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3" name="Rectangle 14"/>
          <p:cNvSpPr/>
          <p:nvPr/>
        </p:nvSpPr>
        <p:spPr>
          <a:xfrm>
            <a:off x="274320" y="3520440"/>
            <a:ext cx="163440" cy="7761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TextBox 15"/>
          <p:cNvSpPr/>
          <p:nvPr/>
        </p:nvSpPr>
        <p:spPr>
          <a:xfrm>
            <a:off x="548640" y="353880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Calibri"/>
              </a:rPr>
              <a:t>KV — per player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2468880" y="353880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Style profile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4937760" y="353880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Descriptive stats only: % opening style, cube tendency, win rate vs each tier. Displayed on the player profile page.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ectangle 18"/>
          <p:cNvSpPr/>
          <p:nvPr/>
        </p:nvSpPr>
        <p:spPr>
          <a:xfrm>
            <a:off x="274320" y="431604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Rectangle 19"/>
          <p:cNvSpPr/>
          <p:nvPr/>
        </p:nvSpPr>
        <p:spPr>
          <a:xfrm>
            <a:off x="274320" y="4480560"/>
            <a:ext cx="163440" cy="7761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548640" y="449892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7070"/>
                </a:solidFill>
                <a:latin typeface="Calibri"/>
              </a:rPr>
              <a:t>Blob — shared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2468880" y="449892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gnubg starter weights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937760" y="449892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AES-256-GCM (opt-in). ~408 KB. Same starting point for all agents. rootHash is dataHashes[0] on every iNFT.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ectangle 23"/>
          <p:cNvSpPr/>
          <p:nvPr/>
        </p:nvSpPr>
        <p:spPr>
          <a:xfrm>
            <a:off x="274320" y="527616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Rectangle 24"/>
          <p:cNvSpPr/>
          <p:nvPr/>
        </p:nvSpPr>
        <p:spPr>
          <a:xfrm>
            <a:off x="274320" y="5440680"/>
            <a:ext cx="163440" cy="77616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548640" y="545904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080ff"/>
                </a:solidFill>
                <a:latin typeface="Calibri"/>
              </a:rPr>
              <a:t>Blob — per agent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Box 26"/>
          <p:cNvSpPr/>
          <p:nvPr/>
        </p:nvSpPr>
        <p:spPr>
          <a:xfrm>
            <a:off x="2468880" y="545904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Trained checkpoint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4937760" y="545904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Full per-agent NN weights (~10K params). Updates after every match (TD-λ). rootHash is dataHashes[1] on the iNFT.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ectangle 28"/>
          <p:cNvSpPr/>
          <p:nvPr/>
        </p:nvSpPr>
        <p:spPr>
          <a:xfrm>
            <a:off x="274320" y="623628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KEEPERHUB — SETTLEMENT WORKFLOW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3"/>
          <p:cNvSpPr/>
          <p:nvPr/>
        </p:nvSpPr>
        <p:spPr>
          <a:xfrm>
            <a:off x="548640" y="777240"/>
            <a:ext cx="1097172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ffffff"/>
                </a:solidFill>
                <a:latin typeface="Calibri"/>
              </a:rPr>
              <a:t>Multi-step orchestration with retry, gas optimization, and audit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Rectangle 4"/>
          <p:cNvSpPr/>
          <p:nvPr/>
        </p:nvSpPr>
        <p:spPr>
          <a:xfrm>
            <a:off x="45720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Rectangle 5"/>
          <p:cNvSpPr/>
          <p:nvPr/>
        </p:nvSpPr>
        <p:spPr>
          <a:xfrm>
            <a:off x="457200" y="1737360"/>
            <a:ext cx="274212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TextBox 6"/>
          <p:cNvSpPr/>
          <p:nvPr/>
        </p:nvSpPr>
        <p:spPr>
          <a:xfrm>
            <a:off x="56700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6c63ff"/>
                </a:solidFill>
                <a:latin typeface="Calibri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56700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recordMatchAndSplit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67000" y="2971800"/>
            <a:ext cx="25592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MatchRegistry.recordMatchAndSplit(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...recordMatch args,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winners[], shares[]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Atomic settle + payout on Sepolia.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9"/>
          <p:cNvSpPr/>
          <p:nvPr/>
        </p:nvSpPr>
        <p:spPr>
          <a:xfrm>
            <a:off x="321876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ectangle 10"/>
          <p:cNvSpPr/>
          <p:nvPr/>
        </p:nvSpPr>
        <p:spPr>
          <a:xfrm>
            <a:off x="338328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Rectangle 11"/>
          <p:cNvSpPr/>
          <p:nvPr/>
        </p:nvSpPr>
        <p:spPr>
          <a:xfrm>
            <a:off x="3383280" y="1737360"/>
            <a:ext cx="274212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9" name="TextBox 12"/>
          <p:cNvSpPr/>
          <p:nvPr/>
        </p:nvSpPr>
        <p:spPr>
          <a:xfrm>
            <a:off x="349308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0d4aa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Box 13"/>
          <p:cNvSpPr/>
          <p:nvPr/>
        </p:nvSpPr>
        <p:spPr>
          <a:xfrm>
            <a:off x="349308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ENS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14"/>
          <p:cNvSpPr/>
          <p:nvPr/>
        </p:nvSpPr>
        <p:spPr>
          <a:xfrm>
            <a:off x="3493080" y="2971800"/>
            <a:ext cx="2559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setText(alice.chaingammon.eth,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elo, match_count,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last_match_id, kind, inft_id)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for both players.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15"/>
          <p:cNvSpPr/>
          <p:nvPr/>
        </p:nvSpPr>
        <p:spPr>
          <a:xfrm>
            <a:off x="614484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Rectangle 16"/>
          <p:cNvSpPr/>
          <p:nvPr/>
        </p:nvSpPr>
        <p:spPr>
          <a:xfrm>
            <a:off x="630936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Rectangle 17"/>
          <p:cNvSpPr/>
          <p:nvPr/>
        </p:nvSpPr>
        <p:spPr>
          <a:xfrm>
            <a:off x="6309360" y="1737360"/>
            <a:ext cx="274212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" name="TextBox 18"/>
          <p:cNvSpPr/>
          <p:nvPr/>
        </p:nvSpPr>
        <p:spPr>
          <a:xfrm>
            <a:off x="641916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c84b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19"/>
          <p:cNvSpPr/>
          <p:nvPr/>
        </p:nvSpPr>
        <p:spPr>
          <a:xfrm>
            <a:off x="641916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Checkpoint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Box 20"/>
          <p:cNvSpPr/>
          <p:nvPr/>
        </p:nvSpPr>
        <p:spPr>
          <a:xfrm>
            <a:off x="6419160" y="2971800"/>
            <a:ext cx="25592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AgentRegistry.updateOverlayHash(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agentId, newCheckpointHash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bumps experienceVersion 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matchCount on the iNFT.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TextBox 21"/>
          <p:cNvSpPr/>
          <p:nvPr/>
        </p:nvSpPr>
        <p:spPr>
          <a:xfrm>
            <a:off x="907092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Rectangle 22"/>
          <p:cNvSpPr/>
          <p:nvPr/>
        </p:nvSpPr>
        <p:spPr>
          <a:xfrm>
            <a:off x="923544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c080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Rectangle 23"/>
          <p:cNvSpPr/>
          <p:nvPr/>
        </p:nvSpPr>
        <p:spPr>
          <a:xfrm>
            <a:off x="9235440" y="1737360"/>
            <a:ext cx="2742120" cy="31896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1" name="TextBox 24"/>
          <p:cNvSpPr/>
          <p:nvPr/>
        </p:nvSpPr>
        <p:spPr>
          <a:xfrm>
            <a:off x="934524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c080ff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Box 25"/>
          <p:cNvSpPr/>
          <p:nvPr/>
        </p:nvSpPr>
        <p:spPr>
          <a:xfrm>
            <a:off x="934524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JSON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Box 26"/>
          <p:cNvSpPr/>
          <p:nvPr/>
        </p:nvSpPr>
        <p:spPr>
          <a:xfrm>
            <a:off x="9345240" y="2971800"/>
            <a:ext cx="2559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Workflow emits full trace: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timestamps, retry count, gas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 step. Mirrored 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0G Storage alongside game record.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548640" y="5897880"/>
            <a:ext cx="10971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d4aa"/>
                </a:solidFill>
                <a:latin typeface="Calibri"/>
              </a:rPr>
              <a:t>Event-driven (both MatchEscrow.Deposited) → KeeperHub runs 7 steps → atomic recordMatchAndSplit on Sepolia → audit to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TECH STACK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What we built it with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4"/>
          <p:cNvSpPr/>
          <p:nvPr/>
        </p:nvSpPr>
        <p:spPr>
          <a:xfrm>
            <a:off x="548640" y="160020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Blockchain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Box 5"/>
          <p:cNvSpPr/>
          <p:nvPr/>
        </p:nvSpPr>
        <p:spPr>
          <a:xfrm>
            <a:off x="2926080" y="160020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Sepolia (chainId 11155111, canonical settlement) · 0G testnet (chainId 16602) for cross-chain demos · drand BLS12-381 dice VRF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6"/>
          <p:cNvSpPr/>
          <p:nvPr/>
        </p:nvSpPr>
        <p:spPr>
          <a:xfrm>
            <a:off x="548640" y="214884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Smart contracts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7"/>
          <p:cNvSpPr/>
          <p:nvPr/>
        </p:nvSpPr>
        <p:spPr>
          <a:xfrm>
            <a:off x="2926080" y="214884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Solidity 0.8.24 · Hardhat 2 · OpenZeppelin v5 · evmVersion cancun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8"/>
          <p:cNvSpPr/>
          <p:nvPr/>
        </p:nvSpPr>
        <p:spPr>
          <a:xfrm>
            <a:off x="548640" y="269748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Game server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Box 9"/>
          <p:cNvSpPr/>
          <p:nvPr/>
        </p:nvSpPr>
        <p:spPr>
          <a:xfrm>
            <a:off x="2926080" y="269748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Python 3.12 · FastAPI · uvicorn · pydantic · web3.py · drand-derived dice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Box 10"/>
          <p:cNvSpPr/>
          <p:nvPr/>
        </p:nvSpPr>
        <p:spPr>
          <a:xfrm>
            <a:off x="548640" y="324612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Backgammon engine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11"/>
          <p:cNvSpPr/>
          <p:nvPr/>
        </p:nvSpPr>
        <p:spPr>
          <a:xfrm>
            <a:off x="2926080" y="324612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Per-agent value net (PyTorch, TD-λ self-play, gnubg-initialised); gnubg only for audit replay + baseline-strength check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Box 12"/>
          <p:cNvSpPr/>
          <p:nvPr/>
        </p:nvSpPr>
        <p:spPr>
          <a:xfrm>
            <a:off x="548640" y="379476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0G Storage bridge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13"/>
          <p:cNvSpPr/>
          <p:nvPr/>
        </p:nvSpPr>
        <p:spPr>
          <a:xfrm>
            <a:off x="2926080" y="379476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og-bridge (Storage) + og-compute-bridge (Compute) · @0glabs/0g-ts-sdk · @0glabs/0g-serving-broker · ethers v6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14"/>
          <p:cNvSpPr/>
          <p:nvPr/>
        </p:nvSpPr>
        <p:spPr>
          <a:xfrm>
            <a:off x="548640" y="434340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Identity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15"/>
          <p:cNvSpPr/>
          <p:nvPr/>
        </p:nvSpPr>
        <p:spPr>
          <a:xfrm>
            <a:off x="2926080" y="434340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ENS subnames via NameWrapper (Sepolia) · 5 reserved text records (elo, match_count, last_match_id, kind, inft_id)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16"/>
          <p:cNvSpPr/>
          <p:nvPr/>
        </p:nvSpPr>
        <p:spPr>
          <a:xfrm>
            <a:off x="548640" y="489204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Settlement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Box 17"/>
          <p:cNvSpPr/>
          <p:nvPr/>
        </p:nvSpPr>
        <p:spPr>
          <a:xfrm>
            <a:off x="2926080" y="489204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KeeperHub event-driven workflows · kh CLI · MatchEscrow.Deposited triggers · 0G Storage audit mirror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18"/>
          <p:cNvSpPr/>
          <p:nvPr/>
        </p:nvSpPr>
        <p:spPr>
          <a:xfrm>
            <a:off x="548640" y="544068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Frontend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Box 19"/>
          <p:cNvSpPr/>
          <p:nvPr/>
        </p:nvSpPr>
        <p:spPr>
          <a:xfrm>
            <a:off x="2926080" y="544068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Next.js 16 · React 19 · TypeScript · Tailwind CSS 4 · wagmi 3 · viem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Box 20"/>
          <p:cNvSpPr/>
          <p:nvPr/>
        </p:nvSpPr>
        <p:spPr>
          <a:xfrm>
            <a:off x="548640" y="598932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Testing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21"/>
          <p:cNvSpPr/>
          <p:nvPr/>
        </p:nvSpPr>
        <p:spPr>
          <a:xfrm>
            <a:off x="2926080" y="598932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305 server + 300 agent (pytest) · 200 contract (Hardhat) · 21 Playwright e2e specs · TDD throughout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Box 1"/>
          <p:cNvSpPr/>
          <p:nvPr/>
        </p:nvSpPr>
        <p:spPr>
          <a:xfrm>
            <a:off x="548640" y="411480"/>
            <a:ext cx="54860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TL;DR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Box 2"/>
          <p:cNvSpPr/>
          <p:nvPr/>
        </p:nvSpPr>
        <p:spPr>
          <a:xfrm>
            <a:off x="548640" y="868680"/>
            <a:ext cx="11063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Decentralized, verifiable ELO for backgammon — for humans and for AI agents that live on-chain as 0G iNFTs and learn match by match.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Box 3"/>
          <p:cNvSpPr/>
          <p:nvPr/>
        </p:nvSpPr>
        <p:spPr>
          <a:xfrm>
            <a:off x="548640" y="2606040"/>
            <a:ext cx="1106388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Verifiable.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Every match settles to a MatchRegistry contract. Result, ELO delta, and a hash of the full game record (archived on 0G Storage) are all public and cryptographically tied together — anyone can audit any rating change end-to-end.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Box 4"/>
          <p:cNvSpPr/>
          <p:nvPr/>
        </p:nvSpPr>
        <p:spPr>
          <a:xfrm>
            <a:off x="548640" y="3931920"/>
            <a:ext cx="1106388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Portable.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Each player's rating lives in their wallet via an ENS subname (&lt;name&gt;.chaingammon.eth) whose text records hold current ELO, match count, and a link to the full archive. Switch frontends, switch clients — reputation comes with you.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"/>
          <p:cNvSpPr/>
          <p:nvPr/>
        </p:nvSpPr>
        <p:spPr>
          <a:xfrm>
            <a:off x="548640" y="5257800"/>
            <a:ext cx="1106388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Living, learning agents.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Each AI agent IS an ERC-7857 iNFT minted on 0G Chain (and Sepolia for settlement) — the token itself, not a label pointing at an off-chain model. The iNFT pins two hashes that point at 0G Storage: starter weights (gnubg-initialised) and a per-agent trained checkpoint that the protocol rewrites after every match (TD-λ self-play). The iNFT learns. Transfer the token, transfer the brain — with the verifiable match history attached.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2026-04-28T14:39:53Z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
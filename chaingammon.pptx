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</p:sldIdLst>
  <p:sldSz cx="12188825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0C72339-5E43-4CD3-BF2F-7DDE2C14B7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0BEE861-C55C-44BB-A930-1683CAE5F1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6F9BE8B-1849-4F9C-A6F2-28A82CEBB7F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D239EAF-C853-4EFF-A438-DE16E5602E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95E80E7-ECD9-46E6-892F-680E2D6DB8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3489186-471C-49F7-8E4B-49B5E0EC4F7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33E16E8-93F0-4DEE-B2E7-C82C2678DC3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AB7EBEC-1386-4DAB-AA64-AEC1076AC4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AA12E70-B8A0-4392-971E-361652FE66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E8333F1-BD24-4A0F-B8F8-D99A261BA8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1A6939A8-A404-48CF-9796-BE31C33BF6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924336-FF85-4080-946C-FF4A2459589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337FDE-187D-40DC-ABB1-BC29459C05B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444552-AF9A-4725-A338-4750DABCD0A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C9A9C57-25EA-4A9C-9C54-83A9EA66B23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EABED6A-3701-4289-BB51-30BF14488C3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55BB8B-20AA-44C4-A2CE-A58F963B331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BEDAB1-9555-4F74-B457-AF47DE1BD25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E7A7AA-27FA-4181-BF57-22D18C7CF27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C2FF4D1-AFFA-49E0-A888-F965437321F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A132B76-6EAE-4049-9949-553751A42A7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7729C5-C802-4A3B-B3EE-9451036FC7B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7772400" y="-457200"/>
            <a:ext cx="5028840" cy="8229240"/>
          </a:xfrm>
          <a:prstGeom prst="rect">
            <a:avLst/>
          </a:prstGeom>
          <a:solidFill>
            <a:srgbClr val="1614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88520" cy="4568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548640" y="1097280"/>
            <a:ext cx="73148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0" spc="-1" strike="noStrike">
                <a:solidFill>
                  <a:srgbClr val="ffffff"/>
                </a:solidFill>
                <a:latin typeface="Calibri"/>
              </a:rPr>
              <a:t>CHAINGAMMON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548640" y="2286000"/>
            <a:ext cx="73148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00d4aa"/>
                </a:solidFill>
                <a:latin typeface="Calibri"/>
              </a:rPr>
              <a:t>5,000 years of strategy. Finally, a permanent record.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48640" y="3017520"/>
            <a:ext cx="7314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aaaabb"/>
                </a:solidFill>
                <a:latin typeface="Calibri"/>
              </a:rPr>
              <a:t>ETHGlobal Open Agents  ·  April 24 – May 6 2026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548640" y="4114800"/>
            <a:ext cx="1462680" cy="41112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ENS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Rectangle 7"/>
          <p:cNvSpPr/>
          <p:nvPr/>
        </p:nvSpPr>
        <p:spPr>
          <a:xfrm>
            <a:off x="2194560" y="4114800"/>
            <a:ext cx="1462680" cy="41112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0G Chain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3840480" y="4114800"/>
            <a:ext cx="1462680" cy="41112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KeeperHub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THE PROBLEM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548640" y="777240"/>
            <a:ext cx="10972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Every backgammon platform is a walled graveyard.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457200" y="1600200"/>
            <a:ext cx="5486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7070"/>
                </a:solidFill>
                <a:latin typeface="Calibri"/>
              </a:rPr>
              <a:t>Platform shutdowns — real losses, real players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457200" y="2057400"/>
            <a:ext cx="5486040" cy="123408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457200" y="2057400"/>
            <a:ext cx="200880" cy="123408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731520" y="2103120"/>
            <a:ext cx="8226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2014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1600200" y="2103120"/>
            <a:ext cx="4205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GameSpy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731520" y="2587680"/>
            <a:ext cx="50288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Shut down Apr 30, 2014. All leaderboards, rankings, and statistics deleted overnight. No migration.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Rectangle 10"/>
          <p:cNvSpPr/>
          <p:nvPr/>
        </p:nvSpPr>
        <p:spPr>
          <a:xfrm>
            <a:off x="457200" y="3429000"/>
            <a:ext cx="5486040" cy="123408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457200" y="3429000"/>
            <a:ext cx="200880" cy="123408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731520" y="3474720"/>
            <a:ext cx="8226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2020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1600200" y="3474720"/>
            <a:ext cx="42058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Microsoft Internet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Games (Backgammon)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Box 14"/>
          <p:cNvSpPr/>
          <p:nvPr/>
        </p:nvSpPr>
        <p:spPr>
          <a:xfrm>
            <a:off x="731520" y="3959280"/>
            <a:ext cx="50288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Shut down Jan 22, 2020. 20 years of backgammon match history — permanently gone.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Rectangle 15"/>
          <p:cNvSpPr/>
          <p:nvPr/>
        </p:nvSpPr>
        <p:spPr>
          <a:xfrm>
            <a:off x="457200" y="4800600"/>
            <a:ext cx="5486040" cy="123408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Rectangle 16"/>
          <p:cNvSpPr/>
          <p:nvPr/>
        </p:nvSpPr>
        <p:spPr>
          <a:xfrm>
            <a:off x="457200" y="4800600"/>
            <a:ext cx="200880" cy="123408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731520" y="4846320"/>
            <a:ext cx="82260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2026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18"/>
          <p:cNvSpPr/>
          <p:nvPr/>
        </p:nvSpPr>
        <p:spPr>
          <a:xfrm>
            <a:off x="1600200" y="4846320"/>
            <a:ext cx="4205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Facebook Gaming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19"/>
          <p:cNvSpPr/>
          <p:nvPr/>
        </p:nvSpPr>
        <p:spPr>
          <a:xfrm>
            <a:off x="731520" y="5330880"/>
            <a:ext cx="50288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Creator Program ended Oct 2025; platform fully shutting down. Backgammon games and player data lost.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6400800" y="160020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c84b"/>
                </a:solidFill>
                <a:latin typeface="Calibri"/>
              </a:rPr>
              <a:t>No standard. No portability. Nowhere safe.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6400800" y="2057400"/>
            <a:ext cx="5394600" cy="182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5+ active platforms today: Backgammon Galaxy, PlayOK, VIP Backgammon, Nextgammon, FIBS — ratings don’t transfer between any of them.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Chess has FIDE — a global, portable, federated rating body. Backgammon has nothing equivalent.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Switch platforms → start at 1500. Decades of match history: reset. Your skill is real; your record is fiction.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AI agents are even worse: no identity, no history, no verifiable track record across deployments.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Rectangle 22"/>
          <p:cNvSpPr/>
          <p:nvPr/>
        </p:nvSpPr>
        <p:spPr>
          <a:xfrm>
            <a:off x="457200" y="5989320"/>
            <a:ext cx="11246760" cy="685440"/>
          </a:xfrm>
          <a:prstGeom prst="rect">
            <a:avLst/>
          </a:prstGeom>
          <a:solidFill>
            <a:srgbClr val="1e1a42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00d4aa"/>
                </a:solidFill>
                <a:latin typeface="Calibri"/>
              </a:rPr>
              <a:t>"California AB 2426 (2024) now requires 30 days’ notice before a game shuts down. It does NOT require preserving your ratings."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MARKET OPPORTUNITY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548640" y="77724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A Polymarket moment for skill — starting with backgammon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457200" y="1554480"/>
            <a:ext cx="548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6c63ff"/>
                </a:solidFill>
                <a:latin typeface="Calibri"/>
              </a:rPr>
              <a:t>The Polymarket parallel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457200" y="2011680"/>
            <a:ext cx="5577480" cy="3837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594360" y="2039040"/>
            <a:ext cx="2559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d0d1a"/>
                </a:solidFill>
                <a:latin typeface="Calibri"/>
              </a:rPr>
              <a:t>BEFORE (Web2)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3246120" y="2039040"/>
            <a:ext cx="2651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d0d1a"/>
                </a:solidFill>
                <a:latin typeface="Calibri"/>
              </a:rPr>
              <a:t>AFTER (Chaingammon)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Rectangle 8"/>
          <p:cNvSpPr/>
          <p:nvPr/>
        </p:nvSpPr>
        <p:spPr>
          <a:xfrm>
            <a:off x="457200" y="2441520"/>
            <a:ext cx="5577480" cy="62136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594360" y="247788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Centralised prediction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markets (PredictIt)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3017520" y="2551320"/>
            <a:ext cx="319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3383280" y="247788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Decentralised game ratings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(on-chain ELO, ENS subnames)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Rectangle 12"/>
          <p:cNvSpPr/>
          <p:nvPr/>
        </p:nvSpPr>
        <p:spPr>
          <a:xfrm>
            <a:off x="457200" y="3117960"/>
            <a:ext cx="5577480" cy="62136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594360" y="315468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Opaque odds set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by operators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14"/>
          <p:cNvSpPr/>
          <p:nvPr/>
        </p:nvSpPr>
        <p:spPr>
          <a:xfrm>
            <a:off x="3017520" y="3227760"/>
            <a:ext cx="319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3383280" y="315468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ELO computed on-chain,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verifiable by anyone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Rectangle 16"/>
          <p:cNvSpPr/>
          <p:nvPr/>
        </p:nvSpPr>
        <p:spPr>
          <a:xfrm>
            <a:off x="457200" y="3794760"/>
            <a:ext cx="5577480" cy="62136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594360" y="383148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Permissioned who can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create a market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Box 18"/>
          <p:cNvSpPr/>
          <p:nvPr/>
        </p:nvSpPr>
        <p:spPr>
          <a:xfrm>
            <a:off x="3017520" y="3904560"/>
            <a:ext cx="319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3383280" y="383148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Permissionless: any platform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can read ENS text records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ectangle 20"/>
          <p:cNvSpPr/>
          <p:nvPr/>
        </p:nvSpPr>
        <p:spPr>
          <a:xfrm>
            <a:off x="457200" y="4471560"/>
            <a:ext cx="5577480" cy="62136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21"/>
          <p:cNvSpPr/>
          <p:nvPr/>
        </p:nvSpPr>
        <p:spPr>
          <a:xfrm>
            <a:off x="594360" y="450792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Real $ at stake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aligns accuracy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22"/>
          <p:cNvSpPr/>
          <p:nvPr/>
        </p:nvSpPr>
        <p:spPr>
          <a:xfrm>
            <a:off x="3017520" y="4581000"/>
            <a:ext cx="319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Box 23"/>
          <p:cNvSpPr/>
          <p:nvPr/>
        </p:nvSpPr>
        <p:spPr>
          <a:xfrm>
            <a:off x="3383280" y="450792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Real match history on-chain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aligns trust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Rectangle 24"/>
          <p:cNvSpPr/>
          <p:nvPr/>
        </p:nvSpPr>
        <p:spPr>
          <a:xfrm>
            <a:off x="457200" y="5148000"/>
            <a:ext cx="5577480" cy="62136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594360" y="518472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Prices survive the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platform shutting down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3017520" y="5257800"/>
            <a:ext cx="319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3383280" y="5184720"/>
            <a:ext cx="25142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Ratings survive the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platform shutting down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6400800" y="1554480"/>
            <a:ext cx="530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00d4aa"/>
                </a:solidFill>
                <a:latin typeface="Calibri"/>
              </a:rPr>
              <a:t>Why backgammon first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6400800" y="2011680"/>
            <a:ext cx="5394600" cy="20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One of humanity’s oldest games — traced to ancient Mesopotamia, played continuously for 5,000 years across Persian, Roman, and Ottoman empires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Never needed a central authority to stay alive — until the internet put it inside platform silos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The rules haven’t changed; the infrastructure should finally catch up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ELO already used on every platform — portable ratings are the natural next step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gnubg gives a world-class AI baseline: human vs. machine skill gaps are measurable and auditable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6400800" y="4663440"/>
            <a:ext cx="53031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c84b"/>
                </a:solidFill>
                <a:latin typeface="Calibri"/>
              </a:rPr>
              <a:t>Extensible to any turn-based game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6400800" y="5120640"/>
            <a:ext cx="1279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♟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Chess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Box 32"/>
          <p:cNvSpPr/>
          <p:nvPr/>
        </p:nvSpPr>
        <p:spPr>
          <a:xfrm>
            <a:off x="7772400" y="5120640"/>
            <a:ext cx="4023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FIDE ratings are already semi-portable; on-chain is the full solution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Box 33"/>
          <p:cNvSpPr/>
          <p:nvPr/>
        </p:nvSpPr>
        <p:spPr>
          <a:xfrm>
            <a:off x="6400800" y="5550480"/>
            <a:ext cx="1279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□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Go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34"/>
          <p:cNvSpPr/>
          <p:nvPr/>
        </p:nvSpPr>
        <p:spPr>
          <a:xfrm>
            <a:off x="7772400" y="5550480"/>
            <a:ext cx="4023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No global digital rating standard — same problem, larger community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Box 35"/>
          <p:cNvSpPr/>
          <p:nvPr/>
        </p:nvSpPr>
        <p:spPr>
          <a:xfrm>
            <a:off x="6400800" y="5980320"/>
            <a:ext cx="1279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ffc84b"/>
                </a:solidFill>
                <a:latin typeface="Calibri"/>
              </a:rPr>
              <a:t>逆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Mahjong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Box 36"/>
          <p:cNvSpPr/>
          <p:nvPr/>
        </p:nvSpPr>
        <p:spPr>
          <a:xfrm>
            <a:off x="7772400" y="5980320"/>
            <a:ext cx="4023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Enormous Asian market; zero cross-platform rating portability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37"/>
          <p:cNvSpPr/>
          <p:nvPr/>
        </p:nvSpPr>
        <p:spPr>
          <a:xfrm>
            <a:off x="6400800" y="6409800"/>
            <a:ext cx="1279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✶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Any game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Box 38"/>
          <p:cNvSpPr/>
          <p:nvPr/>
        </p:nvSpPr>
        <p:spPr>
          <a:xfrm>
            <a:off x="7772400" y="6409800"/>
            <a:ext cx="4023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Any game with reproducible positions + verifiable outcomes can use the protocol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THE SOLUTION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Box 3"/>
          <p:cNvSpPr/>
          <p:nvPr/>
        </p:nvSpPr>
        <p:spPr>
          <a:xfrm>
            <a:off x="548640" y="822960"/>
            <a:ext cx="10972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</a:rPr>
              <a:t>Chaingammon — the open backgammon protocol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Rectangle 4"/>
          <p:cNvSpPr/>
          <p:nvPr/>
        </p:nvSpPr>
        <p:spPr>
          <a:xfrm>
            <a:off x="457200" y="1920240"/>
            <a:ext cx="3657240" cy="411444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Rectangle 5"/>
          <p:cNvSpPr/>
          <p:nvPr/>
        </p:nvSpPr>
        <p:spPr>
          <a:xfrm>
            <a:off x="457200" y="1920240"/>
            <a:ext cx="3657240" cy="31968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94360" y="2331720"/>
            <a:ext cx="33829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🪪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Identity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594360" y="2926080"/>
            <a:ext cx="338292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ENS subname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alice.chaingammon.eth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carries ELO, match count,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style URI, archive URI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ectangle 8"/>
          <p:cNvSpPr/>
          <p:nvPr/>
        </p:nvSpPr>
        <p:spPr>
          <a:xfrm>
            <a:off x="4343400" y="1920240"/>
            <a:ext cx="3657240" cy="411444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ectangle 9"/>
          <p:cNvSpPr/>
          <p:nvPr/>
        </p:nvSpPr>
        <p:spPr>
          <a:xfrm>
            <a:off x="4343400" y="1920240"/>
            <a:ext cx="3657240" cy="31968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4480560" y="2331720"/>
            <a:ext cx="33829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🧠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Agent iNFT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4480560" y="2926080"/>
            <a:ext cx="338292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ERC-7857 iNFT on 0G Chain.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Encrypted gnubg weights 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learned experience overlay,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both on 0G Storage.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Rectangle 12"/>
          <p:cNvSpPr/>
          <p:nvPr/>
        </p:nvSpPr>
        <p:spPr>
          <a:xfrm>
            <a:off x="8229600" y="1920240"/>
            <a:ext cx="3657240" cy="411444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Rectangle 13"/>
          <p:cNvSpPr/>
          <p:nvPr/>
        </p:nvSpPr>
        <p:spPr>
          <a:xfrm>
            <a:off x="8229600" y="1920240"/>
            <a:ext cx="3657240" cy="31968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8366760" y="2331720"/>
            <a:ext cx="33829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⚖️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Settlement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Box 15"/>
          <p:cNvSpPr/>
          <p:nvPr/>
        </p:nvSpPr>
        <p:spPr>
          <a:xfrm>
            <a:off x="8366760" y="2926080"/>
            <a:ext cx="338292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Each result is cryptographically committed: the full move-by-move archive hashed and tied permanently to an on-chain record.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Why KeeperHub, not the server? The server is the game operator — letting it also settle results is like a referee keeping score for their own team. KeeperHub is a neutral keeper network: it retries on failure, optimises gas, and runs even if the server goes offline after firing the trigger.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KeeperHub orchestrates: recordMatch → ENS update → overlay hash → audit trail.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Why not just server → 0G? Anyone can write anything to 0G. The KeeperHub audit is a keeper-signed receipt listing each step's on-chain tx hash, timestamp, gas, and retry count — verify any step on the block explorer, no trust required.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HOW IT WORKS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Box 3"/>
          <p:cNvSpPr/>
          <p:nvPr/>
        </p:nvSpPr>
        <p:spPr>
          <a:xfrm>
            <a:off x="548640" y="777240"/>
            <a:ext cx="10972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End-to-end match lifecycle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Oval 4"/>
          <p:cNvSpPr/>
          <p:nvPr/>
        </p:nvSpPr>
        <p:spPr>
          <a:xfrm>
            <a:off x="457200" y="1645920"/>
            <a:ext cx="411120" cy="41112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5"/>
          <p:cNvSpPr/>
          <p:nvPr/>
        </p:nvSpPr>
        <p:spPr>
          <a:xfrm>
            <a:off x="960120" y="1645920"/>
            <a:ext cx="32000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Connect wallet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Box 6"/>
          <p:cNvSpPr/>
          <p:nvPr/>
        </p:nvSpPr>
        <p:spPr>
          <a:xfrm>
            <a:off x="960120" y="2057400"/>
            <a:ext cx="3200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Frontend auto-issues alice.chaingammon.eth ENS subname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Oval 7"/>
          <p:cNvSpPr/>
          <p:nvPr/>
        </p:nvSpPr>
        <p:spPr>
          <a:xfrm>
            <a:off x="4343400" y="1645920"/>
            <a:ext cx="411120" cy="41112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Box 8"/>
          <p:cNvSpPr/>
          <p:nvPr/>
        </p:nvSpPr>
        <p:spPr>
          <a:xfrm>
            <a:off x="4846320" y="1645920"/>
            <a:ext cx="32000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Pick opponent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9"/>
          <p:cNvSpPr/>
          <p:nvPr/>
        </p:nvSpPr>
        <p:spPr>
          <a:xfrm>
            <a:off x="4846320" y="2057400"/>
            <a:ext cx="3200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Another human subname, or an AI agent iNFT (gnubg-advanced-1.chaingammon.eth)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Oval 10"/>
          <p:cNvSpPr/>
          <p:nvPr/>
        </p:nvSpPr>
        <p:spPr>
          <a:xfrm>
            <a:off x="8229600" y="1645920"/>
            <a:ext cx="411120" cy="41112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Box 11"/>
          <p:cNvSpPr/>
          <p:nvPr/>
        </p:nvSpPr>
        <p:spPr>
          <a:xfrm>
            <a:off x="8732520" y="1645920"/>
            <a:ext cx="32000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Play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Box 12"/>
          <p:cNvSpPr/>
          <p:nvPr/>
        </p:nvSpPr>
        <p:spPr>
          <a:xfrm>
            <a:off x="8732520" y="2057400"/>
            <a:ext cx="3200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 rolls dice; gnubg weights pulled from 0G Storage, run server-side per turn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Oval 13"/>
          <p:cNvSpPr/>
          <p:nvPr/>
        </p:nvSpPr>
        <p:spPr>
          <a:xfrm>
            <a:off x="457200" y="4114800"/>
            <a:ext cx="411120" cy="41112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960120" y="4114800"/>
            <a:ext cx="32000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Game ends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15"/>
          <p:cNvSpPr/>
          <p:nvPr/>
        </p:nvSpPr>
        <p:spPr>
          <a:xfrm>
            <a:off x="960120" y="4526280"/>
            <a:ext cx="3200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 builds GameRecord JSON → uploads to 0G Storage → gets Merkle rootHash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Oval 16"/>
          <p:cNvSpPr/>
          <p:nvPr/>
        </p:nvSpPr>
        <p:spPr>
          <a:xfrm>
            <a:off x="4343400" y="4114800"/>
            <a:ext cx="411120" cy="41112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17"/>
          <p:cNvSpPr/>
          <p:nvPr/>
        </p:nvSpPr>
        <p:spPr>
          <a:xfrm>
            <a:off x="4846320" y="4114800"/>
            <a:ext cx="32000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KeeperHub fires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Box 18"/>
          <p:cNvSpPr/>
          <p:nvPr/>
        </p:nvSpPr>
        <p:spPr>
          <a:xfrm>
            <a:off x="4846320" y="4526280"/>
            <a:ext cx="3200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recordMatch on-chain (with rootHash) + ENS text records updated + agent overlay refreshed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Oval 19"/>
          <p:cNvSpPr/>
          <p:nvPr/>
        </p:nvSpPr>
        <p:spPr>
          <a:xfrm>
            <a:off x="8229600" y="4114800"/>
            <a:ext cx="411120" cy="41112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6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20"/>
          <p:cNvSpPr/>
          <p:nvPr/>
        </p:nvSpPr>
        <p:spPr>
          <a:xfrm>
            <a:off x="8732520" y="4114800"/>
            <a:ext cx="32000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Audit published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21"/>
          <p:cNvSpPr/>
          <p:nvPr/>
        </p:nvSpPr>
        <p:spPr>
          <a:xfrm>
            <a:off x="8732520" y="4526280"/>
            <a:ext cx="3200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KeeperHub audit JSON mirrored to 0G Storage; match replay publicly accessible forever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ENS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548640" y="777240"/>
            <a:ext cx="1097244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ENS subnames as portable player identity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4"/>
          <p:cNvSpPr/>
          <p:nvPr/>
        </p:nvSpPr>
        <p:spPr>
          <a:xfrm>
            <a:off x="457200" y="1554480"/>
            <a:ext cx="530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6c63ff"/>
                </a:solidFill>
                <a:latin typeface="Calibri"/>
              </a:rPr>
              <a:t>What is ENS?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Box 5"/>
          <p:cNvSpPr/>
          <p:nvPr/>
        </p:nvSpPr>
        <p:spPr>
          <a:xfrm>
            <a:off x="457200" y="2011680"/>
            <a:ext cx="5303160" cy="16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Ethereum Name Service — the DNS of Web3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Human-readable names (alice.eth) resolve to addresses, content hashes, and arbitrary text records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Subnames: any .eth owner can issue &lt;label&gt;.&lt;name&gt;.eth — delegated, on-chain, free to transfer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Text records are on-chain structured metadata: a player is just a name + a bag of key-value facts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457200" y="4434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Why subnames are the right primitive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7"/>
          <p:cNvSpPr/>
          <p:nvPr/>
        </p:nvSpPr>
        <p:spPr>
          <a:xfrm>
            <a:off x="457200" y="4892040"/>
            <a:ext cx="5303160" cy="11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Platform-portable: alice.chaingammon.eth exists even if Chaingammon.com goes dark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Composable: any dApp reads text records permissionlessly via ENS resolver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Human-readable: beats 0x4a…3f in leaderboards, match UIs, and social sharing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Hierarchical trust: chaingammon.eth controls issuance; player controls the name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Box 8"/>
          <p:cNvSpPr/>
          <p:nvPr/>
        </p:nvSpPr>
        <p:spPr>
          <a:xfrm>
            <a:off x="6400800" y="1554480"/>
            <a:ext cx="530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00d4aa"/>
                </a:solidFill>
                <a:latin typeface="Calibri"/>
              </a:rPr>
              <a:t>alice.chaingammon.eth  text records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Rectangle 9"/>
          <p:cNvSpPr/>
          <p:nvPr/>
        </p:nvSpPr>
        <p:spPr>
          <a:xfrm>
            <a:off x="6400800" y="205740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10"/>
          <p:cNvSpPr/>
          <p:nvPr/>
        </p:nvSpPr>
        <p:spPr>
          <a:xfrm>
            <a:off x="6510600" y="209412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elo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Box 11"/>
          <p:cNvSpPr/>
          <p:nvPr/>
        </p:nvSpPr>
        <p:spPr>
          <a:xfrm>
            <a:off x="8001000" y="2094120"/>
            <a:ext cx="1874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1847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6510600" y="2459880"/>
            <a:ext cx="5166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Current ELO rating — updated after every match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ectangle 13"/>
          <p:cNvSpPr/>
          <p:nvPr/>
        </p:nvSpPr>
        <p:spPr>
          <a:xfrm>
            <a:off x="6400800" y="2935080"/>
            <a:ext cx="5394600" cy="8042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14"/>
          <p:cNvSpPr/>
          <p:nvPr/>
        </p:nvSpPr>
        <p:spPr>
          <a:xfrm>
            <a:off x="6510600" y="297180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match_count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5"/>
          <p:cNvSpPr/>
          <p:nvPr/>
        </p:nvSpPr>
        <p:spPr>
          <a:xfrm>
            <a:off x="8001000" y="2971800"/>
            <a:ext cx="1874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42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Box 16"/>
          <p:cNvSpPr/>
          <p:nvPr/>
        </p:nvSpPr>
        <p:spPr>
          <a:xfrm>
            <a:off x="6510600" y="3337560"/>
            <a:ext cx="5166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Total games played, on-chain provenance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Rectangle 17"/>
          <p:cNvSpPr/>
          <p:nvPr/>
        </p:nvSpPr>
        <p:spPr>
          <a:xfrm>
            <a:off x="6400800" y="381312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TextBox 18"/>
          <p:cNvSpPr/>
          <p:nvPr/>
        </p:nvSpPr>
        <p:spPr>
          <a:xfrm>
            <a:off x="6510600" y="384948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last_match_id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19"/>
          <p:cNvSpPr/>
          <p:nvPr/>
        </p:nvSpPr>
        <p:spPr>
          <a:xfrm>
            <a:off x="8001000" y="3849480"/>
            <a:ext cx="1874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0x1f…c3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Box 20"/>
          <p:cNvSpPr/>
          <p:nvPr/>
        </p:nvSpPr>
        <p:spPr>
          <a:xfrm>
            <a:off x="6510600" y="4215240"/>
            <a:ext cx="5166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Pointer to latest MatchRegistry entry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Rectangle 21"/>
          <p:cNvSpPr/>
          <p:nvPr/>
        </p:nvSpPr>
        <p:spPr>
          <a:xfrm>
            <a:off x="6400800" y="4690800"/>
            <a:ext cx="5394600" cy="8042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22"/>
          <p:cNvSpPr/>
          <p:nvPr/>
        </p:nvSpPr>
        <p:spPr>
          <a:xfrm>
            <a:off x="6510600" y="472752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style_uri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8001000" y="4727520"/>
            <a:ext cx="1874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0g://kv/alice/style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Box 24"/>
          <p:cNvSpPr/>
          <p:nvPr/>
        </p:nvSpPr>
        <p:spPr>
          <a:xfrm>
            <a:off x="6510600" y="5093280"/>
            <a:ext cx="5166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Link to 0G KV style profile (opening tendencies, cube aggression)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Rectangle 25"/>
          <p:cNvSpPr/>
          <p:nvPr/>
        </p:nvSpPr>
        <p:spPr>
          <a:xfrm>
            <a:off x="6400800" y="556884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26"/>
          <p:cNvSpPr/>
          <p:nvPr/>
        </p:nvSpPr>
        <p:spPr>
          <a:xfrm>
            <a:off x="6510600" y="560520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archive_uri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Box 27"/>
          <p:cNvSpPr/>
          <p:nvPr/>
        </p:nvSpPr>
        <p:spPr>
          <a:xfrm>
            <a:off x="8001000" y="5605200"/>
            <a:ext cx="1874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0g://log/alice/games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Box 28"/>
          <p:cNvSpPr/>
          <p:nvPr/>
        </p:nvSpPr>
        <p:spPr>
          <a:xfrm>
            <a:off x="6510600" y="5970960"/>
            <a:ext cx="5166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Link to full 0G Log of all game records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Box 29"/>
          <p:cNvSpPr/>
          <p:nvPr/>
        </p:nvSpPr>
        <p:spPr>
          <a:xfrm>
            <a:off x="6400800" y="649224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PlayerSubnameRegistrar.sol issues names; KeeperHub writes text records post-match.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0G CHAIN &amp; STORAGE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Box 3"/>
          <p:cNvSpPr/>
          <p:nvPr/>
        </p:nvSpPr>
        <p:spPr>
          <a:xfrm>
            <a:off x="548640" y="777240"/>
            <a:ext cx="10972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AI-native modular blockchain — chain + storage in one stack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Rectangle 4"/>
          <p:cNvSpPr/>
          <p:nvPr/>
        </p:nvSpPr>
        <p:spPr>
          <a:xfrm>
            <a:off x="457200" y="1600200"/>
            <a:ext cx="5577480" cy="210276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Rectangle 5"/>
          <p:cNvSpPr/>
          <p:nvPr/>
        </p:nvSpPr>
        <p:spPr>
          <a:xfrm>
            <a:off x="457200" y="1600200"/>
            <a:ext cx="5577480" cy="31968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TextBox 6"/>
          <p:cNvSpPr/>
          <p:nvPr/>
        </p:nvSpPr>
        <p:spPr>
          <a:xfrm>
            <a:off x="594360" y="1993320"/>
            <a:ext cx="53031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0G Chain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Box 7"/>
          <p:cNvSpPr/>
          <p:nvPr/>
        </p:nvSpPr>
        <p:spPr>
          <a:xfrm>
            <a:off x="594360" y="2423160"/>
            <a:ext cx="5303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EVM-compatible L1  ·  chainId 16602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Fast finality, EVM Cancun opcodes.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Hosts MatchRegistry, AgentRegistry, EloMath, PlayerSubnameRegistrar.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Verified on chainscan-galileo block explorer.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ectangle 8"/>
          <p:cNvSpPr/>
          <p:nvPr/>
        </p:nvSpPr>
        <p:spPr>
          <a:xfrm>
            <a:off x="6309360" y="1600200"/>
            <a:ext cx="5577480" cy="210276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" name="Rectangle 9"/>
          <p:cNvSpPr/>
          <p:nvPr/>
        </p:nvSpPr>
        <p:spPr>
          <a:xfrm>
            <a:off x="6309360" y="1600200"/>
            <a:ext cx="5577480" cy="31968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10"/>
          <p:cNvSpPr/>
          <p:nvPr/>
        </p:nvSpPr>
        <p:spPr>
          <a:xfrm>
            <a:off x="6446520" y="1993320"/>
            <a:ext cx="53031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0G Storage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Box 11"/>
          <p:cNvSpPr/>
          <p:nvPr/>
        </p:nvSpPr>
        <p:spPr>
          <a:xfrm>
            <a:off x="6446520" y="2423160"/>
            <a:ext cx="53031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Decentralized, content-addressed, permanent.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Three primitives: Log (append-only), KV (key-value), Blob (binary).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Upload returns a root hash you can commit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Designed for AI/ML workloads — ideal for model weights storage.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2"/>
          <p:cNvSpPr/>
          <p:nvPr/>
        </p:nvSpPr>
        <p:spPr>
          <a:xfrm>
            <a:off x="457200" y="3840480"/>
            <a:ext cx="1097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Why 0G is the right fit for Chaingammon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Rectangle 13"/>
          <p:cNvSpPr/>
          <p:nvPr/>
        </p:nvSpPr>
        <p:spPr>
          <a:xfrm>
            <a:off x="457200" y="4343400"/>
            <a:ext cx="5577480" cy="9140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14"/>
          <p:cNvSpPr/>
          <p:nvPr/>
        </p:nvSpPr>
        <p:spPr>
          <a:xfrm>
            <a:off x="594360" y="438912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Content-addressed linking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15"/>
          <p:cNvSpPr/>
          <p:nvPr/>
        </p:nvSpPr>
        <p:spPr>
          <a:xfrm>
            <a:off x="594360" y="4745880"/>
            <a:ext cx="53031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rootHash returned by 0G Storage is committed in MatchRegistry.recordMatch — chain ⇔ storage in one atomic reference.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Rectangle 16"/>
          <p:cNvSpPr/>
          <p:nvPr/>
        </p:nvSpPr>
        <p:spPr>
          <a:xfrm>
            <a:off x="6309360" y="4343400"/>
            <a:ext cx="5577480" cy="9140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6446520" y="438912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AI-native storage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Box 18"/>
          <p:cNvSpPr/>
          <p:nvPr/>
        </p:nvSpPr>
        <p:spPr>
          <a:xfrm>
            <a:off x="6446520" y="4745880"/>
            <a:ext cx="53031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neural-network weights (~408 KB) and per-agent experience overlays live in 0G Blob. 0G was built for exactly this.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ectangle 19"/>
          <p:cNvSpPr/>
          <p:nvPr/>
        </p:nvSpPr>
        <p:spPr>
          <a:xfrm>
            <a:off x="457200" y="5349240"/>
            <a:ext cx="5577480" cy="9140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20"/>
          <p:cNvSpPr/>
          <p:nvPr/>
        </p:nvSpPr>
        <p:spPr>
          <a:xfrm>
            <a:off x="594360" y="539496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Immutable audit trail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Box 21"/>
          <p:cNvSpPr/>
          <p:nvPr/>
        </p:nvSpPr>
        <p:spPr>
          <a:xfrm>
            <a:off x="594360" y="5751720"/>
            <a:ext cx="53031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Log type is append-only. Game records and KeeperHub audit JSONs persist forever without IPFS pinning risk.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Rectangle 22"/>
          <p:cNvSpPr/>
          <p:nvPr/>
        </p:nvSpPr>
        <p:spPr>
          <a:xfrm>
            <a:off x="6309360" y="5349240"/>
            <a:ext cx="5577480" cy="9140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6446520" y="539496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One chain, one SDK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Box 24"/>
          <p:cNvSpPr/>
          <p:nvPr/>
        </p:nvSpPr>
        <p:spPr>
          <a:xfrm>
            <a:off x="6446520" y="5751720"/>
            <a:ext cx="53031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og-bridge wraps @0gfoundation/0g-ts-sdk. Same RPC for contracts and storage — no cross-chain bridging ceremony.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KEEPERHUB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3"/>
          <p:cNvSpPr/>
          <p:nvPr/>
        </p:nvSpPr>
        <p:spPr>
          <a:xfrm>
            <a:off x="548640" y="7772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Programmable keeper automation for multi-step Web3 workflows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Box 4"/>
          <p:cNvSpPr/>
          <p:nvPr/>
        </p:nvSpPr>
        <p:spPr>
          <a:xfrm>
            <a:off x="457200" y="1554480"/>
            <a:ext cx="530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What is KeeperHub?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Box 5"/>
          <p:cNvSpPr/>
          <p:nvPr/>
        </p:nvSpPr>
        <p:spPr>
          <a:xfrm>
            <a:off x="457200" y="2011680"/>
            <a:ext cx="5394600" cy="20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Keeper network: third-party bots watch for triggers and execute arbitrary on-chain transactions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Workflow engine: define ordered steps with retry logic, gas configuration, and conditional branching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Triggers: HTTP webhooks, on-chain events, cron schedules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Audit-first: every workflow run produces a full execution trace with timestamps, retries, and gas used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Decoupled from the app: KeeperHub will execute even if your server goes offline after firing the trigger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6"/>
          <p:cNvSpPr/>
          <p:nvPr/>
        </p:nvSpPr>
        <p:spPr>
          <a:xfrm>
            <a:off x="457200" y="507492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c63ff"/>
                </a:solidFill>
                <a:latin typeface="Calibri"/>
              </a:rPr>
              <a:t>vs. doing settlement in the server: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7"/>
          <p:cNvSpPr/>
          <p:nvPr/>
        </p:nvSpPr>
        <p:spPr>
          <a:xfrm>
            <a:off x="457200" y="5486400"/>
            <a:ext cx="5394600" cy="97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 crashes mid-settlement → KeeperHub retries independently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Gas spikes → KeeperHub optimizes and resubmits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4 contract calls in sequence → one atomic workflow definition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Compliance / audit → signed execution receipts, not server logs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8"/>
          <p:cNvSpPr/>
          <p:nvPr/>
        </p:nvSpPr>
        <p:spPr>
          <a:xfrm>
            <a:off x="6400800" y="1554480"/>
            <a:ext cx="53031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Chaingammon settlement workflow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ectangle 9"/>
          <p:cNvSpPr/>
          <p:nvPr/>
        </p:nvSpPr>
        <p:spPr>
          <a:xfrm>
            <a:off x="6400800" y="201168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Rectangle 10"/>
          <p:cNvSpPr/>
          <p:nvPr/>
        </p:nvSpPr>
        <p:spPr>
          <a:xfrm>
            <a:off x="6400800" y="2011680"/>
            <a:ext cx="182520" cy="8042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6675120" y="204840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HTTP trigger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Box 12"/>
          <p:cNvSpPr/>
          <p:nvPr/>
        </p:nvSpPr>
        <p:spPr>
          <a:xfrm>
            <a:off x="6675120" y="241416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Server calls POST /trigger after game ends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13"/>
          <p:cNvSpPr/>
          <p:nvPr/>
        </p:nvSpPr>
        <p:spPr>
          <a:xfrm>
            <a:off x="6473880" y="2816280"/>
            <a:ext cx="228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ectangle 14"/>
          <p:cNvSpPr/>
          <p:nvPr/>
        </p:nvSpPr>
        <p:spPr>
          <a:xfrm>
            <a:off x="6400800" y="289872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Rectangle 15"/>
          <p:cNvSpPr/>
          <p:nvPr/>
        </p:nvSpPr>
        <p:spPr>
          <a:xfrm>
            <a:off x="6400800" y="2898720"/>
            <a:ext cx="182520" cy="8042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16"/>
          <p:cNvSpPr/>
          <p:nvPr/>
        </p:nvSpPr>
        <p:spPr>
          <a:xfrm>
            <a:off x="6675120" y="293508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recordMatch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17"/>
          <p:cNvSpPr/>
          <p:nvPr/>
        </p:nvSpPr>
        <p:spPr>
          <a:xfrm>
            <a:off x="6675120" y="3300840"/>
            <a:ext cx="50288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MatchRegistry.recordMatch(winner, loser, length, gameRecordHash) → emits EloUpdated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18"/>
          <p:cNvSpPr/>
          <p:nvPr/>
        </p:nvSpPr>
        <p:spPr>
          <a:xfrm>
            <a:off x="6473880" y="3703320"/>
            <a:ext cx="228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Rectangle 19"/>
          <p:cNvSpPr/>
          <p:nvPr/>
        </p:nvSpPr>
        <p:spPr>
          <a:xfrm>
            <a:off x="6400800" y="378576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Rectangle 20"/>
          <p:cNvSpPr/>
          <p:nvPr/>
        </p:nvSpPr>
        <p:spPr>
          <a:xfrm>
            <a:off x="6400800" y="3785760"/>
            <a:ext cx="182520" cy="80424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21"/>
          <p:cNvSpPr/>
          <p:nvPr/>
        </p:nvSpPr>
        <p:spPr>
          <a:xfrm>
            <a:off x="6675120" y="382212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ENS text records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Box 22"/>
          <p:cNvSpPr/>
          <p:nvPr/>
        </p:nvSpPr>
        <p:spPr>
          <a:xfrm>
            <a:off x="6675120" y="4187880"/>
            <a:ext cx="50288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setText on alice.chaingammon.eth and opponent: elo, match_count, last_match_id, archive_uri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Box 23"/>
          <p:cNvSpPr/>
          <p:nvPr/>
        </p:nvSpPr>
        <p:spPr>
          <a:xfrm>
            <a:off x="6473880" y="4590360"/>
            <a:ext cx="228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Rectangle 24"/>
          <p:cNvSpPr/>
          <p:nvPr/>
        </p:nvSpPr>
        <p:spPr>
          <a:xfrm>
            <a:off x="6400800" y="467244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Rectangle 25"/>
          <p:cNvSpPr/>
          <p:nvPr/>
        </p:nvSpPr>
        <p:spPr>
          <a:xfrm>
            <a:off x="6400800" y="4672440"/>
            <a:ext cx="182520" cy="80424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26"/>
          <p:cNvSpPr/>
          <p:nvPr/>
        </p:nvSpPr>
        <p:spPr>
          <a:xfrm>
            <a:off x="6675120" y="470916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updateOverlayHash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Box 27"/>
          <p:cNvSpPr/>
          <p:nvPr/>
        </p:nvSpPr>
        <p:spPr>
          <a:xfrm>
            <a:off x="6675120" y="507492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AgentRegistry.updateOverlayHash(agentId, newHash) bumps experienceVersion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Box 28"/>
          <p:cNvSpPr/>
          <p:nvPr/>
        </p:nvSpPr>
        <p:spPr>
          <a:xfrm>
            <a:off x="6473880" y="5477400"/>
            <a:ext cx="228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ectangle 29"/>
          <p:cNvSpPr/>
          <p:nvPr/>
        </p:nvSpPr>
        <p:spPr>
          <a:xfrm>
            <a:off x="6400800" y="555948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Rectangle 30"/>
          <p:cNvSpPr/>
          <p:nvPr/>
        </p:nvSpPr>
        <p:spPr>
          <a:xfrm>
            <a:off x="6400800" y="5559480"/>
            <a:ext cx="182520" cy="80424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31"/>
          <p:cNvSpPr/>
          <p:nvPr/>
        </p:nvSpPr>
        <p:spPr>
          <a:xfrm>
            <a:off x="6675120" y="559620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Audit export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32"/>
          <p:cNvSpPr/>
          <p:nvPr/>
        </p:nvSpPr>
        <p:spPr>
          <a:xfrm>
            <a:off x="6675120" y="596196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Full trace → 0G Storage Log → publicly viewable settlement proof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33"/>
          <p:cNvSpPr/>
          <p:nvPr/>
        </p:nvSpPr>
        <p:spPr>
          <a:xfrm>
            <a:off x="6400800" y="649224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kh CLI defines the workflow YAML; the server only fires the trigger.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AI AGENTS AS iNFTs  (ERC-7857)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Box 3"/>
          <p:cNvSpPr/>
          <p:nvPr/>
        </p:nvSpPr>
        <p:spPr>
          <a:xfrm>
            <a:off x="548640" y="777240"/>
            <a:ext cx="10972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Agents that carry verifiable, portable intelligence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4"/>
          <p:cNvSpPr/>
          <p:nvPr/>
        </p:nvSpPr>
        <p:spPr>
          <a:xfrm>
            <a:off x="548640" y="1600200"/>
            <a:ext cx="53031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0d4aa"/>
                </a:solidFill>
                <a:latin typeface="Calibri"/>
              </a:rPr>
              <a:t>Two data hashes per iNFT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ectangle 5"/>
          <p:cNvSpPr/>
          <p:nvPr/>
        </p:nvSpPr>
        <p:spPr>
          <a:xfrm>
            <a:off x="457200" y="2148840"/>
            <a:ext cx="5486040" cy="169128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TextBox 6"/>
          <p:cNvSpPr/>
          <p:nvPr/>
        </p:nvSpPr>
        <p:spPr>
          <a:xfrm>
            <a:off x="640080" y="224028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dataHashes[0]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7"/>
          <p:cNvSpPr/>
          <p:nvPr/>
        </p:nvSpPr>
        <p:spPr>
          <a:xfrm>
            <a:off x="640080" y="251460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baseWeightsHash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Box 8"/>
          <p:cNvSpPr/>
          <p:nvPr/>
        </p:nvSpPr>
        <p:spPr>
          <a:xfrm>
            <a:off x="640080" y="2834640"/>
            <a:ext cx="502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Shared across ALL agents — encrypted gnubg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neural-network weights on 0G Storage.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Verifies: 'this agent runs real gnubg.'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Rectangle 9"/>
          <p:cNvSpPr/>
          <p:nvPr/>
        </p:nvSpPr>
        <p:spPr>
          <a:xfrm>
            <a:off x="457200" y="4069080"/>
            <a:ext cx="5486040" cy="169128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TextBox 10"/>
          <p:cNvSpPr/>
          <p:nvPr/>
        </p:nvSpPr>
        <p:spPr>
          <a:xfrm>
            <a:off x="640080" y="4160520"/>
            <a:ext cx="5028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dataHashes[1]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Box 11"/>
          <p:cNvSpPr/>
          <p:nvPr/>
        </p:nvSpPr>
        <p:spPr>
          <a:xfrm>
            <a:off x="640080" y="4434840"/>
            <a:ext cx="5028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overlayHash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Box 12"/>
          <p:cNvSpPr/>
          <p:nvPr/>
        </p:nvSpPr>
        <p:spPr>
          <a:xfrm>
            <a:off x="640080" y="4754880"/>
            <a:ext cx="502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Per-agent experience overlay — a ~20-float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vector that biases move selection and grows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with every match played.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Box 13"/>
          <p:cNvSpPr/>
          <p:nvPr/>
        </p:nvSpPr>
        <p:spPr>
          <a:xfrm>
            <a:off x="6492240" y="1600200"/>
            <a:ext cx="50288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c84b"/>
                </a:solidFill>
                <a:latin typeface="Calibri"/>
              </a:rPr>
              <a:t>Tier system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ectangle 14"/>
          <p:cNvSpPr/>
          <p:nvPr/>
        </p:nvSpPr>
        <p:spPr>
          <a:xfrm>
            <a:off x="6492240" y="2148840"/>
            <a:ext cx="5303160" cy="8683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TextBox 15"/>
          <p:cNvSpPr/>
          <p:nvPr/>
        </p:nvSpPr>
        <p:spPr>
          <a:xfrm>
            <a:off x="6583680" y="2194560"/>
            <a:ext cx="822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0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Box 16"/>
          <p:cNvSpPr/>
          <p:nvPr/>
        </p:nvSpPr>
        <p:spPr>
          <a:xfrm>
            <a:off x="7498080" y="219456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Beginner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17"/>
          <p:cNvSpPr/>
          <p:nvPr/>
        </p:nvSpPr>
        <p:spPr>
          <a:xfrm>
            <a:off x="6583680" y="2560320"/>
            <a:ext cx="4114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0-ply (immediate eval)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Rectangle 18"/>
          <p:cNvSpPr/>
          <p:nvPr/>
        </p:nvSpPr>
        <p:spPr>
          <a:xfrm>
            <a:off x="6492240" y="3154680"/>
            <a:ext cx="5303160" cy="8683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TextBox 19"/>
          <p:cNvSpPr/>
          <p:nvPr/>
        </p:nvSpPr>
        <p:spPr>
          <a:xfrm>
            <a:off x="6583680" y="3200400"/>
            <a:ext cx="822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Box 20"/>
          <p:cNvSpPr/>
          <p:nvPr/>
        </p:nvSpPr>
        <p:spPr>
          <a:xfrm>
            <a:off x="7498080" y="320040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Intermediate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Box 21"/>
          <p:cNvSpPr/>
          <p:nvPr/>
        </p:nvSpPr>
        <p:spPr>
          <a:xfrm>
            <a:off x="6583680" y="3566160"/>
            <a:ext cx="4114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2-ply (looks 2 moves ahead)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ectangle 22"/>
          <p:cNvSpPr/>
          <p:nvPr/>
        </p:nvSpPr>
        <p:spPr>
          <a:xfrm>
            <a:off x="6492240" y="4160520"/>
            <a:ext cx="5303160" cy="8683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TextBox 23"/>
          <p:cNvSpPr/>
          <p:nvPr/>
        </p:nvSpPr>
        <p:spPr>
          <a:xfrm>
            <a:off x="6583680" y="4206240"/>
            <a:ext cx="822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Box 24"/>
          <p:cNvSpPr/>
          <p:nvPr/>
        </p:nvSpPr>
        <p:spPr>
          <a:xfrm>
            <a:off x="7498080" y="420624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Advanced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5"/>
          <p:cNvSpPr/>
          <p:nvPr/>
        </p:nvSpPr>
        <p:spPr>
          <a:xfrm>
            <a:off x="6583680" y="4572000"/>
            <a:ext cx="4114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3-ply (deeper search)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ectangle 26"/>
          <p:cNvSpPr/>
          <p:nvPr/>
        </p:nvSpPr>
        <p:spPr>
          <a:xfrm>
            <a:off x="6492240" y="5166360"/>
            <a:ext cx="5303160" cy="8683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TextBox 27"/>
          <p:cNvSpPr/>
          <p:nvPr/>
        </p:nvSpPr>
        <p:spPr>
          <a:xfrm>
            <a:off x="6583680" y="5212080"/>
            <a:ext cx="822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Box 28"/>
          <p:cNvSpPr/>
          <p:nvPr/>
        </p:nvSpPr>
        <p:spPr>
          <a:xfrm>
            <a:off x="7498080" y="5212080"/>
            <a:ext cx="1828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World-class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Box 29"/>
          <p:cNvSpPr/>
          <p:nvPr/>
        </p:nvSpPr>
        <p:spPr>
          <a:xfrm>
            <a:off x="6583680" y="5577840"/>
            <a:ext cx="4114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full rollout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30"/>
          <p:cNvSpPr/>
          <p:nvPr/>
        </p:nvSpPr>
        <p:spPr>
          <a:xfrm>
            <a:off x="6492240" y="608076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00d4aa"/>
                </a:solidFill>
                <a:latin typeface="Calibri"/>
              </a:rPr>
              <a:t>Two same-tier agents start identically — then drift into different styles as their match histories diverge.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GNUBG AGENT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0000"/>
            <a:ext cx="11274552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Neural-network position evaluation + per-agent bias vector + look-ahead depth = a unique, evolving player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0000"/>
            <a:ext cx="3000000" cy="5598000"/>
          </a:xfrm>
          <a:prstGeom prst="rect">
            <a:avLst/>
          </a:prstGeom>
          <a:solidFill>
            <a:srgbClr val="16162E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77200" y="1000000"/>
            <a:ext cx="3200000" cy="5598000"/>
          </a:xfrm>
          <a:prstGeom prst="rect">
            <a:avLst/>
          </a:prstGeom>
          <a:solidFill>
            <a:srgbClr val="16162E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97200" y="1000000"/>
            <a:ext cx="4434552" cy="5598000"/>
          </a:xfrm>
          <a:prstGeom prst="rect">
            <a:avLst/>
          </a:prstGeom>
          <a:solidFill>
            <a:srgbClr val="16162E"/>
          </a:solidFill>
          <a:ln w="19050">
            <a:solidFill>
              <a:srgbClr val="FFC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200" y="1100000"/>
            <a:ext cx="28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63FF"/>
                </a:solidFill>
              </a:rPr>
              <a:t>Board Position Vector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77200" y="1100000"/>
            <a:ext cx="3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</a:rPr>
              <a:t>Experience Overlay (bias vector)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200" y="1100000"/>
            <a:ext cx="423455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C84B"/>
                </a:solidFill>
              </a:rPr>
              <a:t>Ply Depth → Skill 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7200" y="3599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AAAABB"/>
                </a:solidFill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7200" y="3599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200" y="1420000"/>
            <a:ext cx="28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BB"/>
                </a:solidFill>
              </a:rPr>
              <a:t>185-float board encoding (sample entries):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7200" y="1660000"/>
            <a:ext cx="28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00" y="170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point_6_own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7200" y="170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00" y="199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point_8_own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7200" y="199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7200" y="2240000"/>
            <a:ext cx="28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00" y="228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point_13_own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7200" y="228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00" y="257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point_24_own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97200" y="257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7200" y="2820000"/>
            <a:ext cx="28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00" y="286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point_1_opp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7200" y="286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00" y="315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pip_count_self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97200" y="315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167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7200" y="3400000"/>
            <a:ext cx="28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00" y="344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pip_count_opp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97200" y="344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143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00" y="373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on_bar_self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97200" y="373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  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7200" y="3980000"/>
            <a:ext cx="28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00" y="4020000"/>
            <a:ext cx="16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…  (177 more)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97200" y="4020000"/>
            <a:ext cx="103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D4AA"/>
                </a:solidFill>
              </a:rPr>
              <a:t> 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7200" y="4320000"/>
            <a:ext cx="2800000" cy="360000"/>
          </a:xfrm>
          <a:prstGeom prst="rect">
            <a:avLst/>
          </a:prstGeom>
          <a:solidFill>
            <a:srgbClr val="1E1E3A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7200" y="4370000"/>
            <a:ext cx="2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C63FF"/>
                </a:solidFill>
              </a:rPr>
              <a:t>Base case — overlay = 0</a:t>
            </a:r>
          </a:p>
          <a:p>
            <a:pPr algn="l"/>
            <a:r>
              <a:rPr sz="800" b="0">
                <a:solidFill>
                  <a:srgbClr val="FFFFFF"/>
                </a:solidFill>
              </a:rPr>
              <a:t>All 20 bias values = 0.0</a:t>
            </a:r>
          </a:p>
          <a:p>
            <a:pPr algn="l"/>
            <a:r>
              <a:rPr sz="800" b="0">
                <a:solidFill>
                  <a:srgbClr val="AAAABB"/>
                </a:solidFill>
              </a:rPr>
              <a:t>→ pure gnubg equity, no personality.</a:t>
            </a:r>
          </a:p>
          <a:p>
            <a:pPr algn="l"/>
            <a:r>
              <a:rPr sz="800" b="0">
                <a:solidFill>
                  <a:srgbClr val="AAAABB"/>
                </a:solidFill>
              </a:rPr>
              <a:t>Every new agent starts identical.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77200" y="1420000"/>
            <a:ext cx="3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BB"/>
                </a:solidFill>
              </a:rPr>
              <a:t>20-float per-agent style bias — stored on 0G Storage: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77200" y="1655000"/>
            <a:ext cx="4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AAAABB"/>
                </a:solidFill>
              </a:rPr>
              <a:t>day 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7200" y="1655000"/>
            <a:ext cx="4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00D4AA"/>
                </a:solidFill>
              </a:rPr>
              <a:t>50 games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57200" y="1875000"/>
            <a:ext cx="30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7200" y="191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opening_slot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77200" y="191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57200" y="191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CF66"/>
                </a:solidFill>
              </a:rPr>
              <a:t>+0.42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7200" y="220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build_5_point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77200" y="220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7200" y="220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CF66"/>
                </a:solidFill>
              </a:rPr>
              <a:t>+0.31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57200" y="2455000"/>
            <a:ext cx="30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7200" y="249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build_bar_point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77200" y="249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57200" y="249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B6B"/>
                </a:solidFill>
              </a:rPr>
              <a:t>-0.05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37200" y="278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bearoff_efficient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77200" y="278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7200" y="278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CF66"/>
                </a:solidFill>
              </a:rPr>
              <a:t>+0.18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57200" y="3035000"/>
            <a:ext cx="30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37200" y="307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risk_blot_leaving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77200" y="307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57200" y="307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B6B"/>
                </a:solidFill>
              </a:rPr>
              <a:t>-0.21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37200" y="336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hits_blot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77200" y="336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7200" y="336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CF66"/>
                </a:solidFill>
              </a:rPr>
              <a:t>+0.14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57200" y="3615000"/>
            <a:ext cx="30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7200" y="365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anchors_back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77200" y="365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7200" y="365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CF66"/>
                </a:solidFill>
              </a:rPr>
              <a:t>+0.26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37200" y="394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phase_prime_building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77200" y="394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57200" y="394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CF66"/>
                </a:solidFill>
              </a:rPr>
              <a:t>+0.19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857200" y="4195000"/>
            <a:ext cx="3040000" cy="27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937200" y="423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phase_blitz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77200" y="423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0.00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7200" y="423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B6B"/>
                </a:solidFill>
              </a:rPr>
              <a:t>-0.08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7200" y="4525000"/>
            <a:ext cx="1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BB"/>
                </a:solidFill>
              </a:rPr>
              <a:t>…  (11 more)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77200" y="452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BB"/>
                </a:solidFill>
              </a:rPr>
              <a:t>…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7200" y="4525000"/>
            <a:ext cx="42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AAAABB"/>
                </a:solidFill>
              </a:rPr>
              <a:t>…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877200" y="4820000"/>
            <a:ext cx="3000000" cy="400000"/>
          </a:xfrm>
          <a:prstGeom prst="rect">
            <a:avLst/>
          </a:prstGeom>
          <a:solidFill>
            <a:srgbClr val="1E1E3A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27200" y="4865000"/>
            <a:ext cx="29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D4AA"/>
                </a:solidFill>
              </a:rPr>
              <a:t>Post-match update rule:</a:t>
            </a:r>
          </a:p>
          <a:p>
            <a:pPr algn="l"/>
            <a:r>
              <a:rPr sz="900" b="1">
                <a:solidFill>
                  <a:srgbClr val="FFFFFF"/>
                </a:solidFill>
              </a:rPr>
              <a:t>Δ[c] = lr × outcome × exposure[c]</a:t>
            </a:r>
          </a:p>
          <a:p>
            <a:pPr algn="l"/>
            <a:r>
              <a:rPr sz="800" b="0">
                <a:solidFill>
                  <a:srgbClr val="AAAABB"/>
                </a:solidFill>
              </a:rPr>
              <a:t>α = N / (N + matches)  →  early games learn faster</a:t>
            </a:r>
          </a:p>
          <a:p>
            <a:pPr algn="l"/>
            <a:r>
              <a:rPr sz="800" b="0">
                <a:solidFill>
                  <a:srgbClr val="AAAABB"/>
                </a:solidFill>
              </a:rPr>
              <a:t>new[c] = clip((1−α)·old + α·(old+Δ),  −1, +1)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97200" y="1420000"/>
            <a:ext cx="4234552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BB"/>
                </a:solidFill>
              </a:rPr>
              <a:t>gnubg evaluates N plies before picking a move: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77200" y="1660000"/>
            <a:ext cx="4274552" cy="9496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447200" y="1710000"/>
            <a:ext cx="360000" cy="230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447200" y="1710000"/>
            <a:ext cx="3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0-ply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7200" y="1705000"/>
            <a:ext cx="376455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84B"/>
                </a:solidFill>
              </a:rPr>
              <a:t>Beginner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67200" y="1910000"/>
            <a:ext cx="3764552" cy="6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BB"/>
                </a:solidFill>
              </a:rPr>
              <a:t>NN(board) → argmax. Single eval, no search.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77200" y="2629600"/>
            <a:ext cx="4274552" cy="949600"/>
          </a:xfrm>
          <a:prstGeom prst="rect">
            <a:avLst/>
          </a:prstGeom>
          <a:solidFill>
            <a:srgbClr val="16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47200" y="2679600"/>
            <a:ext cx="360000" cy="230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47200" y="2679600"/>
            <a:ext cx="3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1-ply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67200" y="2674600"/>
            <a:ext cx="376455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84B"/>
                </a:solidFill>
              </a:rPr>
              <a:t>Casual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67200" y="2879600"/>
            <a:ext cx="3764552" cy="6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BB"/>
                </a:solidFill>
              </a:rPr>
              <a:t>Try every legal move → NN(pos') → pick best.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77200" y="3599200"/>
            <a:ext cx="4274552" cy="9496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447200" y="3649200"/>
            <a:ext cx="360000" cy="230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47200" y="3649200"/>
            <a:ext cx="3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2-ply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867200" y="3644200"/>
            <a:ext cx="376455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84B"/>
                </a:solidFill>
              </a:rPr>
              <a:t>Intermediate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67200" y="3849200"/>
            <a:ext cx="3764552" cy="6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BB"/>
                </a:solidFill>
              </a:rPr>
              <a:t>Each move + opponent's best reply → NN(pos'') → pick best.  ~25× slower than 0-ply.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377200" y="4568800"/>
            <a:ext cx="4274552" cy="949600"/>
          </a:xfrm>
          <a:prstGeom prst="rect">
            <a:avLst/>
          </a:prstGeom>
          <a:solidFill>
            <a:srgbClr val="16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447200" y="4618800"/>
            <a:ext cx="360000" cy="230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47200" y="4618800"/>
            <a:ext cx="3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3-ply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867200" y="4613800"/>
            <a:ext cx="376455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84B"/>
                </a:solidFill>
              </a:rPr>
              <a:t>Advanced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67200" y="4818800"/>
            <a:ext cx="3764552" cy="6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BB"/>
                </a:solidFill>
              </a:rPr>
              <a:t>Two full plies + extra NN pass.  Equivalent to a strong club player.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77200" y="5538400"/>
            <a:ext cx="4274552" cy="9496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447200" y="5588400"/>
            <a:ext cx="360000" cy="230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47200" y="5588400"/>
            <a:ext cx="3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rollout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867200" y="5583400"/>
            <a:ext cx="376455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84B"/>
                </a:solidFill>
              </a:rPr>
              <a:t>World-class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867200" y="5788400"/>
            <a:ext cx="3764552" cy="67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BB"/>
                </a:solidFill>
              </a:rPr>
              <a:t>Monte Carlo: simulate N random-dice games from each candidate, average outcomes.  Most accurate, very slow.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0" y="6608000"/>
            <a:ext cx="12188952" cy="2200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57200" y="6648000"/>
            <a:ext cx="11274552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score(move)  =  gnubg_equity(board_after_move)  +  Σc [ overlay[c] × category_match(move, c) ]     →   argmax selects the move played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ELO RATINGS &amp; PREDICTION MARKETS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Box 3"/>
          <p:cNvSpPr/>
          <p:nvPr/>
        </p:nvSpPr>
        <p:spPr>
          <a:xfrm>
            <a:off x="548640" y="7772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A transparent, on-chain skill ledger — and a betting primitive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Box 4"/>
          <p:cNvSpPr/>
          <p:nvPr/>
        </p:nvSpPr>
        <p:spPr>
          <a:xfrm>
            <a:off x="457200" y="1554480"/>
            <a:ext cx="53031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0d4aa"/>
                </a:solidFill>
                <a:latin typeface="Calibri"/>
              </a:rPr>
              <a:t>How ELO works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ectangle 5"/>
          <p:cNvSpPr/>
          <p:nvPr/>
        </p:nvSpPr>
        <p:spPr>
          <a:xfrm>
            <a:off x="457200" y="2057400"/>
            <a:ext cx="5394600" cy="1554120"/>
          </a:xfrm>
          <a:prstGeom prst="rect">
            <a:avLst/>
          </a:prstGeom>
          <a:solidFill>
            <a:srgbClr val="141228"/>
          </a:solidFill>
          <a:ln w="1524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6" name="TextBox 6"/>
          <p:cNvSpPr/>
          <p:nvPr/>
        </p:nvSpPr>
        <p:spPr>
          <a:xfrm>
            <a:off x="594360" y="2148840"/>
            <a:ext cx="5120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0d4aa"/>
                </a:solidFill>
                <a:latin typeface="Calibri"/>
              </a:rPr>
              <a:t>Eₐ = 1 / (1 + 10^((R_B − R_A) / 400))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Box 7"/>
          <p:cNvSpPr/>
          <p:nvPr/>
        </p:nvSpPr>
        <p:spPr>
          <a:xfrm>
            <a:off x="594360" y="2606040"/>
            <a:ext cx="5120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R_new = R_old + K × (score − Eₐ)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Box 8"/>
          <p:cNvSpPr/>
          <p:nvPr/>
        </p:nvSpPr>
        <p:spPr>
          <a:xfrm>
            <a:off x="594360" y="3017520"/>
            <a:ext cx="5120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K = 32 (rating change cap)   •   Starting rating = 1500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9"/>
          <p:cNvSpPr/>
          <p:nvPr/>
        </p:nvSpPr>
        <p:spPr>
          <a:xfrm>
            <a:off x="457200" y="374904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c63ff"/>
                </a:solidFill>
                <a:latin typeface="Calibri"/>
              </a:rPr>
              <a:t>Rating gap  →  win probability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Rectangle 10"/>
          <p:cNvSpPr/>
          <p:nvPr/>
        </p:nvSpPr>
        <p:spPr>
          <a:xfrm>
            <a:off x="457200" y="4160520"/>
            <a:ext cx="5394600" cy="39276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1" name="TextBox 11"/>
          <p:cNvSpPr/>
          <p:nvPr/>
        </p:nvSpPr>
        <p:spPr>
          <a:xfrm>
            <a:off x="594360" y="419724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Δ0  (equal)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12"/>
          <p:cNvSpPr/>
          <p:nvPr/>
        </p:nvSpPr>
        <p:spPr>
          <a:xfrm>
            <a:off x="4114800" y="4197240"/>
            <a:ext cx="1462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50%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Rectangle 13"/>
          <p:cNvSpPr/>
          <p:nvPr/>
        </p:nvSpPr>
        <p:spPr>
          <a:xfrm>
            <a:off x="457200" y="4599360"/>
            <a:ext cx="5394600" cy="39276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TextBox 14"/>
          <p:cNvSpPr/>
          <p:nvPr/>
        </p:nvSpPr>
        <p:spPr>
          <a:xfrm>
            <a:off x="594360" y="463608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Δ100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Box 15"/>
          <p:cNvSpPr/>
          <p:nvPr/>
        </p:nvSpPr>
        <p:spPr>
          <a:xfrm>
            <a:off x="4114800" y="4636080"/>
            <a:ext cx="1462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64%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ectangle 16"/>
          <p:cNvSpPr/>
          <p:nvPr/>
        </p:nvSpPr>
        <p:spPr>
          <a:xfrm>
            <a:off x="457200" y="5038200"/>
            <a:ext cx="5394600" cy="39276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7" name="TextBox 17"/>
          <p:cNvSpPr/>
          <p:nvPr/>
        </p:nvSpPr>
        <p:spPr>
          <a:xfrm>
            <a:off x="594360" y="507492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Δ200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Box 18"/>
          <p:cNvSpPr/>
          <p:nvPr/>
        </p:nvSpPr>
        <p:spPr>
          <a:xfrm>
            <a:off x="4114800" y="5074920"/>
            <a:ext cx="1462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76%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Rectangle 19"/>
          <p:cNvSpPr/>
          <p:nvPr/>
        </p:nvSpPr>
        <p:spPr>
          <a:xfrm>
            <a:off x="457200" y="5477400"/>
            <a:ext cx="5394600" cy="39276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20"/>
          <p:cNvSpPr/>
          <p:nvPr/>
        </p:nvSpPr>
        <p:spPr>
          <a:xfrm>
            <a:off x="594360" y="5513760"/>
            <a:ext cx="3200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Δ400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21"/>
          <p:cNvSpPr/>
          <p:nvPr/>
        </p:nvSpPr>
        <p:spPr>
          <a:xfrm>
            <a:off x="4114800" y="5513760"/>
            <a:ext cx="1462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91%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Box 22"/>
          <p:cNvSpPr/>
          <p:nvPr/>
        </p:nvSpPr>
        <p:spPr>
          <a:xfrm>
            <a:off x="457200" y="608076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Chaingammon uses fixed-point integer ELO via EloMath.sol — no floats on-chain.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Box 23"/>
          <p:cNvSpPr/>
          <p:nvPr/>
        </p:nvSpPr>
        <p:spPr>
          <a:xfrm>
            <a:off x="6400800" y="1554480"/>
            <a:ext cx="53031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c84b"/>
                </a:solidFill>
                <a:latin typeface="Calibri"/>
              </a:rPr>
              <a:t>Betting on players &amp; agents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Rectangle 24"/>
          <p:cNvSpPr/>
          <p:nvPr/>
        </p:nvSpPr>
        <p:spPr>
          <a:xfrm>
            <a:off x="6400800" y="205740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5" name="TextBox 25"/>
          <p:cNvSpPr/>
          <p:nvPr/>
        </p:nvSpPr>
        <p:spPr>
          <a:xfrm>
            <a:off x="6537960" y="2084760"/>
            <a:ext cx="5120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Match odds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Box 26"/>
          <p:cNvSpPr/>
          <p:nvPr/>
        </p:nvSpPr>
        <p:spPr>
          <a:xfrm>
            <a:off x="6537960" y="2423160"/>
            <a:ext cx="51202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Derive fair odds directly from the ELO win-probability formula. A 200-point gap gives 76 / 24 fair odds — any market price away from that is +EV.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Rectangle 27"/>
          <p:cNvSpPr/>
          <p:nvPr/>
        </p:nvSpPr>
        <p:spPr>
          <a:xfrm>
            <a:off x="6400800" y="2962800"/>
            <a:ext cx="5394600" cy="8042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28"/>
          <p:cNvSpPr/>
          <p:nvPr/>
        </p:nvSpPr>
        <p:spPr>
          <a:xfrm>
            <a:off x="6537960" y="2990160"/>
            <a:ext cx="5120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ELO movement markets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TextBox 29"/>
          <p:cNvSpPr/>
          <p:nvPr/>
        </p:nvSpPr>
        <p:spPr>
          <a:xfrm>
            <a:off x="6537960" y="3328560"/>
            <a:ext cx="51202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Bet whether a player gains or loses N ELO over the next M games. Think prediction markets on skill trajectory.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ectangle 30"/>
          <p:cNvSpPr/>
          <p:nvPr/>
        </p:nvSpPr>
        <p:spPr>
          <a:xfrm>
            <a:off x="6400800" y="386784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31"/>
          <p:cNvSpPr/>
          <p:nvPr/>
        </p:nvSpPr>
        <p:spPr>
          <a:xfrm>
            <a:off x="6537960" y="3895200"/>
            <a:ext cx="5120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Equity-curve exposure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32"/>
          <p:cNvSpPr/>
          <p:nvPr/>
        </p:nvSpPr>
        <p:spPr>
          <a:xfrm>
            <a:off x="6537960" y="4233600"/>
            <a:ext cx="51202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Buy a share of an agent’s future ELO gains. Agents with long on-chain histories show clean cumulative curves — verifiable Sharpe for a bot.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ectangle 33"/>
          <p:cNvSpPr/>
          <p:nvPr/>
        </p:nvSpPr>
        <p:spPr>
          <a:xfrm>
            <a:off x="6400800" y="4773240"/>
            <a:ext cx="5394600" cy="8042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34"/>
          <p:cNvSpPr/>
          <p:nvPr/>
        </p:nvSpPr>
        <p:spPr>
          <a:xfrm>
            <a:off x="6537960" y="4800600"/>
            <a:ext cx="5120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Kelly sizing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35"/>
          <p:cNvSpPr/>
          <p:nvPr/>
        </p:nvSpPr>
        <p:spPr>
          <a:xfrm>
            <a:off x="6537960" y="5139000"/>
            <a:ext cx="51202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Optimal bet% = edge / odds. With ELO-implied probability and on-chain match history, the edge estimate is transparent, not operator-controlled.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Rectangle 36"/>
          <p:cNvSpPr/>
          <p:nvPr/>
        </p:nvSpPr>
        <p:spPr>
          <a:xfrm>
            <a:off x="6400800" y="5678280"/>
            <a:ext cx="5394600" cy="8042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7" name="TextBox 37"/>
          <p:cNvSpPr/>
          <p:nvPr/>
        </p:nvSpPr>
        <p:spPr>
          <a:xfrm>
            <a:off x="6537960" y="5706000"/>
            <a:ext cx="5120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Agent performance futures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38"/>
          <p:cNvSpPr/>
          <p:nvPr/>
        </p:nvSpPr>
        <p:spPr>
          <a:xfrm>
            <a:off x="6537960" y="6044040"/>
            <a:ext cx="51202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Will an agent reach Tier 3 ELO within 100 matches? All inputs—match count, overlay hash—are public on 0G Chain.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Box 39"/>
          <p:cNvSpPr/>
          <p:nvPr/>
        </p:nvSpPr>
        <p:spPr>
          <a:xfrm>
            <a:off x="6400800" y="6492240"/>
            <a:ext cx="5394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d4aa"/>
                </a:solidFill>
                <a:latin typeface="Calibri"/>
              </a:rPr>
              <a:t>Every match, ELO delta, and overlay update is recorded on 0G Chain — no trust required.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1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SMART CONTRACTS ON 0G CHAIN  (chainId 16602)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TextBox 3"/>
          <p:cNvSpPr/>
          <p:nvPr/>
        </p:nvSpPr>
        <p:spPr>
          <a:xfrm>
            <a:off x="548640" y="7772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Four contracts — deployed and verified on chainscan-galileo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Rectangle 4"/>
          <p:cNvSpPr/>
          <p:nvPr/>
        </p:nvSpPr>
        <p:spPr>
          <a:xfrm>
            <a:off x="457200" y="1645920"/>
            <a:ext cx="5577480" cy="210276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4" name="Rectangle 5"/>
          <p:cNvSpPr/>
          <p:nvPr/>
        </p:nvSpPr>
        <p:spPr>
          <a:xfrm>
            <a:off x="457200" y="1645920"/>
            <a:ext cx="5577480" cy="31968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TextBox 6"/>
          <p:cNvSpPr/>
          <p:nvPr/>
        </p:nvSpPr>
        <p:spPr>
          <a:xfrm>
            <a:off x="567000" y="1993320"/>
            <a:ext cx="53031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EloMath.sol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7"/>
          <p:cNvSpPr/>
          <p:nvPr/>
        </p:nvSpPr>
        <p:spPr>
          <a:xfrm>
            <a:off x="567000" y="2423160"/>
            <a:ext cx="5303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Pure library. K=32, INITIAL=1500 ELO.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Fixed-point integer math — no floats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Expected-score lookup table, floor at 0.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Rectangle 8"/>
          <p:cNvSpPr/>
          <p:nvPr/>
        </p:nvSpPr>
        <p:spPr>
          <a:xfrm>
            <a:off x="6309360" y="1645920"/>
            <a:ext cx="5577480" cy="210276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8" name="Rectangle 9"/>
          <p:cNvSpPr/>
          <p:nvPr/>
        </p:nvSpPr>
        <p:spPr>
          <a:xfrm>
            <a:off x="6309360" y="1645920"/>
            <a:ext cx="5577480" cy="31968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TextBox 10"/>
          <p:cNvSpPr/>
          <p:nvPr/>
        </p:nvSpPr>
        <p:spPr>
          <a:xfrm>
            <a:off x="6419160" y="1993320"/>
            <a:ext cx="53031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MatchRegistry.sol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11"/>
          <p:cNvSpPr/>
          <p:nvPr/>
        </p:nvSpPr>
        <p:spPr>
          <a:xfrm>
            <a:off x="6419160" y="2423160"/>
            <a:ext cx="5303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Owner-only recordMatch(winner, loser, matchLength, gameRecordHash).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Stores MatchInfo struct with on-chain ↔ 0G Storage link.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Emits MatchRecorded, EloUpdated, GameRecordStored events.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Rectangle 12"/>
          <p:cNvSpPr/>
          <p:nvPr/>
        </p:nvSpPr>
        <p:spPr>
          <a:xfrm>
            <a:off x="457200" y="4023360"/>
            <a:ext cx="5577480" cy="210276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Rectangle 13"/>
          <p:cNvSpPr/>
          <p:nvPr/>
        </p:nvSpPr>
        <p:spPr>
          <a:xfrm>
            <a:off x="457200" y="4023360"/>
            <a:ext cx="5577480" cy="31968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14"/>
          <p:cNvSpPr/>
          <p:nvPr/>
        </p:nvSpPr>
        <p:spPr>
          <a:xfrm>
            <a:off x="567000" y="4370760"/>
            <a:ext cx="53031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AgentRegistry.sol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Box 15"/>
          <p:cNvSpPr/>
          <p:nvPr/>
        </p:nvSpPr>
        <p:spPr>
          <a:xfrm>
            <a:off x="567000" y="4800600"/>
            <a:ext cx="5303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ERC-721 base + ERC-7857-compatible shape.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mintAgent(to, metadataURI, tier)  ·  setBaseWeightsHash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updateOverlayHash — bumps matchCount + experienceVersion.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Rectangle 16"/>
          <p:cNvSpPr/>
          <p:nvPr/>
        </p:nvSpPr>
        <p:spPr>
          <a:xfrm>
            <a:off x="6309360" y="4023360"/>
            <a:ext cx="5577480" cy="2102760"/>
          </a:xfrm>
          <a:prstGeom prst="rect">
            <a:avLst/>
          </a:prstGeom>
          <a:solidFill>
            <a:srgbClr val="141228"/>
          </a:solidFill>
          <a:ln w="19050">
            <a:solidFill>
              <a:srgbClr val="ff707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6" name="Rectangle 17"/>
          <p:cNvSpPr/>
          <p:nvPr/>
        </p:nvSpPr>
        <p:spPr>
          <a:xfrm>
            <a:off x="6309360" y="4023360"/>
            <a:ext cx="5577480" cy="31968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TextBox 18"/>
          <p:cNvSpPr/>
          <p:nvPr/>
        </p:nvSpPr>
        <p:spPr>
          <a:xfrm>
            <a:off x="6419160" y="4370760"/>
            <a:ext cx="53031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PlayerSubnameRegistrar.sol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19"/>
          <p:cNvSpPr/>
          <p:nvPr/>
        </p:nvSpPr>
        <p:spPr>
          <a:xfrm>
            <a:off x="6419160" y="4800600"/>
            <a:ext cx="5303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Issues &lt;name&gt;.chaingammon.eth ENS subnames.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Server-only write access in v1.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Controls text records: elo, match_count, style_uri, archive_uri.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0G STORAGE — FOUR USES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3"/>
          <p:cNvSpPr/>
          <p:nvPr/>
        </p:nvSpPr>
        <p:spPr>
          <a:xfrm>
            <a:off x="548640" y="777240"/>
            <a:ext cx="10972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Decentralised, content-addressed, permanent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Rectangle 4"/>
          <p:cNvSpPr/>
          <p:nvPr/>
        </p:nvSpPr>
        <p:spPr>
          <a:xfrm>
            <a:off x="274320" y="1600200"/>
            <a:ext cx="164160" cy="77688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3" name="TextBox 5"/>
          <p:cNvSpPr/>
          <p:nvPr/>
        </p:nvSpPr>
        <p:spPr>
          <a:xfrm>
            <a:off x="548640" y="161856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Log — per match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6"/>
          <p:cNvSpPr/>
          <p:nvPr/>
        </p:nvSpPr>
        <p:spPr>
          <a:xfrm>
            <a:off x="2468880" y="161856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Game record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7"/>
          <p:cNvSpPr/>
          <p:nvPr/>
        </p:nvSpPr>
        <p:spPr>
          <a:xfrm>
            <a:off x="4937760" y="1618560"/>
            <a:ext cx="6857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GameRecord JSON: every move, dice, cube action, gnubg position IDs. ~2–10 KB. rootHash committed in MatchRegistry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Rectangle 8"/>
          <p:cNvSpPr/>
          <p:nvPr/>
        </p:nvSpPr>
        <p:spPr>
          <a:xfrm>
            <a:off x="274320" y="2395800"/>
            <a:ext cx="11612520" cy="612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Rectangle 9"/>
          <p:cNvSpPr/>
          <p:nvPr/>
        </p:nvSpPr>
        <p:spPr>
          <a:xfrm>
            <a:off x="274320" y="2560320"/>
            <a:ext cx="164160" cy="77688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TextBox 10"/>
          <p:cNvSpPr/>
          <p:nvPr/>
        </p:nvSpPr>
        <p:spPr>
          <a:xfrm>
            <a:off x="548640" y="257868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0d4aa"/>
                </a:solidFill>
                <a:latin typeface="Calibri"/>
              </a:rPr>
              <a:t>Log — per match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Box 11"/>
          <p:cNvSpPr/>
          <p:nvPr/>
        </p:nvSpPr>
        <p:spPr>
          <a:xfrm>
            <a:off x="2468880" y="257868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KeeperHub audit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TextBox 12"/>
          <p:cNvSpPr/>
          <p:nvPr/>
        </p:nvSpPr>
        <p:spPr>
          <a:xfrm>
            <a:off x="4937760" y="2578680"/>
            <a:ext cx="6857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Settlement workflow trace: timestamps, retries, gas, step results. Mirrored so it's publicly viewable without KeeperHub login.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Rectangle 13"/>
          <p:cNvSpPr/>
          <p:nvPr/>
        </p:nvSpPr>
        <p:spPr>
          <a:xfrm>
            <a:off x="274320" y="3355920"/>
            <a:ext cx="11612520" cy="612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Rectangle 14"/>
          <p:cNvSpPr/>
          <p:nvPr/>
        </p:nvSpPr>
        <p:spPr>
          <a:xfrm>
            <a:off x="274320" y="3520440"/>
            <a:ext cx="164160" cy="77688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3" name="TextBox 15"/>
          <p:cNvSpPr/>
          <p:nvPr/>
        </p:nvSpPr>
        <p:spPr>
          <a:xfrm>
            <a:off x="548640" y="353880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Calibri"/>
              </a:rPr>
              <a:t>KV — per player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TextBox 16"/>
          <p:cNvSpPr/>
          <p:nvPr/>
        </p:nvSpPr>
        <p:spPr>
          <a:xfrm>
            <a:off x="2468880" y="353880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Style profile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Box 17"/>
          <p:cNvSpPr/>
          <p:nvPr/>
        </p:nvSpPr>
        <p:spPr>
          <a:xfrm>
            <a:off x="4937760" y="3538800"/>
            <a:ext cx="6857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Descriptive stats only: % opening style, cube tendency, win rate vs each tier. Displayed on the player profile page.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Rectangle 18"/>
          <p:cNvSpPr/>
          <p:nvPr/>
        </p:nvSpPr>
        <p:spPr>
          <a:xfrm>
            <a:off x="274320" y="4316040"/>
            <a:ext cx="11612520" cy="612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7" name="Rectangle 19"/>
          <p:cNvSpPr/>
          <p:nvPr/>
        </p:nvSpPr>
        <p:spPr>
          <a:xfrm>
            <a:off x="274320" y="4480560"/>
            <a:ext cx="164160" cy="77688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TextBox 20"/>
          <p:cNvSpPr/>
          <p:nvPr/>
        </p:nvSpPr>
        <p:spPr>
          <a:xfrm>
            <a:off x="548640" y="449892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7070"/>
                </a:solidFill>
                <a:latin typeface="Calibri"/>
              </a:rPr>
              <a:t>Blob — shared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21"/>
          <p:cNvSpPr/>
          <p:nvPr/>
        </p:nvSpPr>
        <p:spPr>
          <a:xfrm>
            <a:off x="2468880" y="449892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gnubg base weights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Box 22"/>
          <p:cNvSpPr/>
          <p:nvPr/>
        </p:nvSpPr>
        <p:spPr>
          <a:xfrm>
            <a:off x="4937760" y="4498920"/>
            <a:ext cx="6857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Encrypted (AES-256-GCM). ~408 KB. One blob for all agents. rootHash is dataHashes[0] on every iNFT. Key held server-side in v1.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Rectangle 23"/>
          <p:cNvSpPr/>
          <p:nvPr/>
        </p:nvSpPr>
        <p:spPr>
          <a:xfrm>
            <a:off x="274320" y="5276160"/>
            <a:ext cx="11612520" cy="612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24"/>
          <p:cNvSpPr/>
          <p:nvPr/>
        </p:nvSpPr>
        <p:spPr>
          <a:xfrm>
            <a:off x="274320" y="5440680"/>
            <a:ext cx="164160" cy="77688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25"/>
          <p:cNvSpPr/>
          <p:nvPr/>
        </p:nvSpPr>
        <p:spPr>
          <a:xfrm>
            <a:off x="548640" y="545904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c080ff"/>
                </a:solidFill>
                <a:latin typeface="Calibri"/>
              </a:rPr>
              <a:t>Blob — per agent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6"/>
          <p:cNvSpPr/>
          <p:nvPr/>
        </p:nvSpPr>
        <p:spPr>
          <a:xfrm>
            <a:off x="2468880" y="5459040"/>
            <a:ext cx="2285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Experience overlay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TextBox 27"/>
          <p:cNvSpPr/>
          <p:nvPr/>
        </p:nvSpPr>
        <p:spPr>
          <a:xfrm>
            <a:off x="4937760" y="5459040"/>
            <a:ext cx="6857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~20-float preference vector. Updates after every match. rootHash is dataHashes[1] on the iNFT. Grows with play.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Rectangle 28"/>
          <p:cNvSpPr/>
          <p:nvPr/>
        </p:nvSpPr>
        <p:spPr>
          <a:xfrm>
            <a:off x="274320" y="6236280"/>
            <a:ext cx="11612520" cy="612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8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KEEPERHUB — SETTLEMENT WORKFLOW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Box 3"/>
          <p:cNvSpPr/>
          <p:nvPr/>
        </p:nvSpPr>
        <p:spPr>
          <a:xfrm>
            <a:off x="548640" y="777240"/>
            <a:ext cx="109724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ffffff"/>
                </a:solidFill>
                <a:latin typeface="Calibri"/>
              </a:rPr>
              <a:t>Multi-step orchestration with retry, gas optimization, and audit</a:t>
            </a:r>
            <a:endParaRPr b="0" lang="en-US" sz="2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Rectangle 4"/>
          <p:cNvSpPr/>
          <p:nvPr/>
        </p:nvSpPr>
        <p:spPr>
          <a:xfrm>
            <a:off x="457200" y="1737360"/>
            <a:ext cx="2742840" cy="393156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Rectangle 5"/>
          <p:cNvSpPr/>
          <p:nvPr/>
        </p:nvSpPr>
        <p:spPr>
          <a:xfrm>
            <a:off x="457200" y="1737360"/>
            <a:ext cx="2742840" cy="31968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2" name="TextBox 6"/>
          <p:cNvSpPr/>
          <p:nvPr/>
        </p:nvSpPr>
        <p:spPr>
          <a:xfrm>
            <a:off x="567000" y="2103120"/>
            <a:ext cx="36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6c63ff"/>
                </a:solidFill>
                <a:latin typeface="Calibri"/>
              </a:rPr>
              <a:t>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TextBox 7"/>
          <p:cNvSpPr/>
          <p:nvPr/>
        </p:nvSpPr>
        <p:spPr>
          <a:xfrm>
            <a:off x="567000" y="2487240"/>
            <a:ext cx="2468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recordMatch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Box 8"/>
          <p:cNvSpPr/>
          <p:nvPr/>
        </p:nvSpPr>
        <p:spPr>
          <a:xfrm>
            <a:off x="567000" y="2971800"/>
            <a:ext cx="2559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MatchRegistry.recordMatch(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winner, loser, matchLength,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gameRecordHash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Returns matchId; ELO updated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Box 9"/>
          <p:cNvSpPr/>
          <p:nvPr/>
        </p:nvSpPr>
        <p:spPr>
          <a:xfrm>
            <a:off x="3218760" y="3474720"/>
            <a:ext cx="273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ectangle 10"/>
          <p:cNvSpPr/>
          <p:nvPr/>
        </p:nvSpPr>
        <p:spPr>
          <a:xfrm>
            <a:off x="3383280" y="1737360"/>
            <a:ext cx="2742840" cy="393156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Rectangle 11"/>
          <p:cNvSpPr/>
          <p:nvPr/>
        </p:nvSpPr>
        <p:spPr>
          <a:xfrm>
            <a:off x="3383280" y="1737360"/>
            <a:ext cx="2742840" cy="31968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TextBox 12"/>
          <p:cNvSpPr/>
          <p:nvPr/>
        </p:nvSpPr>
        <p:spPr>
          <a:xfrm>
            <a:off x="3493080" y="2103120"/>
            <a:ext cx="36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00d4aa"/>
                </a:solidFill>
                <a:latin typeface="Calibri"/>
              </a:rPr>
              <a:t>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13"/>
          <p:cNvSpPr/>
          <p:nvPr/>
        </p:nvSpPr>
        <p:spPr>
          <a:xfrm>
            <a:off x="3493080" y="2487240"/>
            <a:ext cx="2468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ENS update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Box 14"/>
          <p:cNvSpPr/>
          <p:nvPr/>
        </p:nvSpPr>
        <p:spPr>
          <a:xfrm>
            <a:off x="3493080" y="2971800"/>
            <a:ext cx="2559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setText(alice.chaingammon.eth,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elo, match_count,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last_match_id, archive_uri)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for both players.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Box 15"/>
          <p:cNvSpPr/>
          <p:nvPr/>
        </p:nvSpPr>
        <p:spPr>
          <a:xfrm>
            <a:off x="6144840" y="3474720"/>
            <a:ext cx="273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Rectangle 16"/>
          <p:cNvSpPr/>
          <p:nvPr/>
        </p:nvSpPr>
        <p:spPr>
          <a:xfrm>
            <a:off x="6309360" y="1737360"/>
            <a:ext cx="2742840" cy="393156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Rectangle 17"/>
          <p:cNvSpPr/>
          <p:nvPr/>
        </p:nvSpPr>
        <p:spPr>
          <a:xfrm>
            <a:off x="6309360" y="1737360"/>
            <a:ext cx="2742840" cy="31968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TextBox 18"/>
          <p:cNvSpPr/>
          <p:nvPr/>
        </p:nvSpPr>
        <p:spPr>
          <a:xfrm>
            <a:off x="6419160" y="2103120"/>
            <a:ext cx="36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c84b"/>
                </a:solidFill>
                <a:latin typeface="Calibri"/>
              </a:rPr>
              <a:t>3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19"/>
          <p:cNvSpPr/>
          <p:nvPr/>
        </p:nvSpPr>
        <p:spPr>
          <a:xfrm>
            <a:off x="6419160" y="2487240"/>
            <a:ext cx="2468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Overlay update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Box 20"/>
          <p:cNvSpPr/>
          <p:nvPr/>
        </p:nvSpPr>
        <p:spPr>
          <a:xfrm>
            <a:off x="6419160" y="2971800"/>
            <a:ext cx="2559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AgentRegistry.updateOverlayHash(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agentId, newOverlayHash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bumps experienceVersion 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matchCount on the iNFT.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Box 21"/>
          <p:cNvSpPr/>
          <p:nvPr/>
        </p:nvSpPr>
        <p:spPr>
          <a:xfrm>
            <a:off x="9070920" y="3474720"/>
            <a:ext cx="27396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ectangle 22"/>
          <p:cNvSpPr/>
          <p:nvPr/>
        </p:nvSpPr>
        <p:spPr>
          <a:xfrm>
            <a:off x="9235440" y="1737360"/>
            <a:ext cx="2742840" cy="3931560"/>
          </a:xfrm>
          <a:prstGeom prst="rect">
            <a:avLst/>
          </a:prstGeom>
          <a:solidFill>
            <a:srgbClr val="141228"/>
          </a:solidFill>
          <a:ln w="19050">
            <a:solidFill>
              <a:srgbClr val="c080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Rectangle 23"/>
          <p:cNvSpPr/>
          <p:nvPr/>
        </p:nvSpPr>
        <p:spPr>
          <a:xfrm>
            <a:off x="9235440" y="1737360"/>
            <a:ext cx="2742840" cy="31968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0" name="TextBox 24"/>
          <p:cNvSpPr/>
          <p:nvPr/>
        </p:nvSpPr>
        <p:spPr>
          <a:xfrm>
            <a:off x="9345240" y="2103120"/>
            <a:ext cx="365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c080ff"/>
                </a:solidFill>
                <a:latin typeface="Calibri"/>
              </a:rPr>
              <a:t>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Box 25"/>
          <p:cNvSpPr/>
          <p:nvPr/>
        </p:nvSpPr>
        <p:spPr>
          <a:xfrm>
            <a:off x="9345240" y="2487240"/>
            <a:ext cx="24685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Audit JSON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Box 26"/>
          <p:cNvSpPr/>
          <p:nvPr/>
        </p:nvSpPr>
        <p:spPr>
          <a:xfrm>
            <a:off x="9345240" y="2971800"/>
            <a:ext cx="2559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Workflow emits full trace: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timestamps, retry count, gas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per step. Mirrored to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0G Storage alongside game record.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27"/>
          <p:cNvSpPr/>
          <p:nvPr/>
        </p:nvSpPr>
        <p:spPr>
          <a:xfrm>
            <a:off x="548640" y="589788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d4aa"/>
                </a:solidFill>
                <a:latin typeface="Calibri"/>
              </a:rPr>
              <a:t>Server calls POST /trigger → KeeperHub runs all 4 steps → pulls audit → mirrors to 0G Storage.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5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TECH STACK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3"/>
          <p:cNvSpPr/>
          <p:nvPr/>
        </p:nvSpPr>
        <p:spPr>
          <a:xfrm>
            <a:off x="548640" y="777240"/>
            <a:ext cx="10972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What we built it with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Box 4"/>
          <p:cNvSpPr/>
          <p:nvPr/>
        </p:nvSpPr>
        <p:spPr>
          <a:xfrm>
            <a:off x="548640" y="160020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Blockchain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Box 5"/>
          <p:cNvSpPr/>
          <p:nvPr/>
        </p:nvSpPr>
        <p:spPr>
          <a:xfrm>
            <a:off x="2926080" y="160020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0G Chain testnet · chainId 16602 · evmRPC + chainscan-galileo explorer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TextBox 6"/>
          <p:cNvSpPr/>
          <p:nvPr/>
        </p:nvSpPr>
        <p:spPr>
          <a:xfrm>
            <a:off x="548640" y="214884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Smart contracts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TextBox 7"/>
          <p:cNvSpPr/>
          <p:nvPr/>
        </p:nvSpPr>
        <p:spPr>
          <a:xfrm>
            <a:off x="2926080" y="214884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Solidity 0.8.24 · Hardhat 2 · OpenZeppelin v5 · evmVersion cancun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Box 8"/>
          <p:cNvSpPr/>
          <p:nvPr/>
        </p:nvSpPr>
        <p:spPr>
          <a:xfrm>
            <a:off x="548640" y="269748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Game server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TextBox 9"/>
          <p:cNvSpPr/>
          <p:nvPr/>
        </p:nvSpPr>
        <p:spPr>
          <a:xfrm>
            <a:off x="2926080" y="269748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Python 3.12 · FastAPI · uvicorn · pydantic · web3.py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Box 10"/>
          <p:cNvSpPr/>
          <p:nvPr/>
        </p:nvSpPr>
        <p:spPr>
          <a:xfrm>
            <a:off x="548640" y="324612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Backgammon engine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11"/>
          <p:cNvSpPr/>
          <p:nvPr/>
        </p:nvSpPr>
        <p:spPr>
          <a:xfrm>
            <a:off x="2926080" y="324612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GNU Backgammon (gnubg) via External Player socket interface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12"/>
          <p:cNvSpPr/>
          <p:nvPr/>
        </p:nvSpPr>
        <p:spPr>
          <a:xfrm>
            <a:off x="548640" y="379476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0G Storage bridge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TextBox 13"/>
          <p:cNvSpPr/>
          <p:nvPr/>
        </p:nvSpPr>
        <p:spPr>
          <a:xfrm>
            <a:off x="2926080" y="379476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Node.js workspace package (og-bridge) · @0gfoundation/0g-ts-sdk · ethers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Box 14"/>
          <p:cNvSpPr/>
          <p:nvPr/>
        </p:nvSpPr>
        <p:spPr>
          <a:xfrm>
            <a:off x="548640" y="434340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Identity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15"/>
          <p:cNvSpPr/>
          <p:nvPr/>
        </p:nvSpPr>
        <p:spPr>
          <a:xfrm>
            <a:off x="2926080" y="434340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ENS subnames · text records (elo, match_count, style_uri, archive_uri)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TextBox 16"/>
          <p:cNvSpPr/>
          <p:nvPr/>
        </p:nvSpPr>
        <p:spPr>
          <a:xfrm>
            <a:off x="548640" y="489204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Settlement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TextBox 17"/>
          <p:cNvSpPr/>
          <p:nvPr/>
        </p:nvSpPr>
        <p:spPr>
          <a:xfrm>
            <a:off x="2926080" y="489204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KeeperHub workflows · kh CLI · HTTP trigger API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18"/>
          <p:cNvSpPr/>
          <p:nvPr/>
        </p:nvSpPr>
        <p:spPr>
          <a:xfrm>
            <a:off x="548640" y="544068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Frontend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TextBox 19"/>
          <p:cNvSpPr/>
          <p:nvPr/>
        </p:nvSpPr>
        <p:spPr>
          <a:xfrm>
            <a:off x="2926080" y="544068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Next.js 16 · React 19 · TypeScript · Tailwind CSS 4 · wagmi 3 · viem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TextBox 20"/>
          <p:cNvSpPr/>
          <p:nvPr/>
        </p:nvSpPr>
        <p:spPr>
          <a:xfrm>
            <a:off x="548640" y="5989320"/>
            <a:ext cx="2285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Testing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TextBox 21"/>
          <p:cNvSpPr/>
          <p:nvPr/>
        </p:nvSpPr>
        <p:spPr>
          <a:xfrm>
            <a:off x="2926080" y="5989320"/>
            <a:ext cx="8960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82 server tests (pytest) · 52 contract tests (Hardhat/Mocha) · TDD throughout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Rectangle 1"/>
          <p:cNvSpPr/>
          <p:nvPr/>
        </p:nvSpPr>
        <p:spPr>
          <a:xfrm>
            <a:off x="0" y="502920"/>
            <a:ext cx="12188520" cy="453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6" name="TextBox 2"/>
          <p:cNvSpPr/>
          <p:nvPr/>
        </p:nvSpPr>
        <p:spPr>
          <a:xfrm>
            <a:off x="457200" y="10980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STATUS &amp; ROADMAP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TextBox 3"/>
          <p:cNvSpPr/>
          <p:nvPr/>
        </p:nvSpPr>
        <p:spPr>
          <a:xfrm>
            <a:off x="457200" y="777240"/>
            <a:ext cx="5486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Phases complete today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Box 4"/>
          <p:cNvSpPr/>
          <p:nvPr/>
        </p:nvSpPr>
        <p:spPr>
          <a:xfrm>
            <a:off x="457200" y="1463040"/>
            <a:ext cx="5668920" cy="22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0 — Scaffold: pnpm workspace, uv server, Hardhat contracts, Next.js frontend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1 — gnubg wrapper: FastAPI + pexpect; full match end-to-end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2 — Core contracts: EloMath, MatchRegistry, AgentRegistry (52 tests)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3 — gameRecordHash field on MatchRegistry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4 — Deploy + verify on 0G testnet (chainscan-galileo)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5 — AgentRegistry → ERC-7857 iNFT (tier + dataHashes)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6 — 0G Storage round-trip via og-bridge Node helper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7 — GameRecord upload + recordMatch with rootHash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8 — Encrypted gnubg weights on 0G Storage (AES-256-GCM)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✅ </a:t>
            </a:r>
            <a:r>
              <a:rPr b="0" lang="en-US" sz="1150" spc="-1" strike="noStrike">
                <a:solidFill>
                  <a:srgbClr val="00d4aa"/>
                </a:solidFill>
                <a:latin typeface="Calibri"/>
              </a:rPr>
              <a:t>Phase 9 — Agent experience overlay: learns after each match (82 tests)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"/>
          <p:cNvSpPr/>
          <p:nvPr/>
        </p:nvSpPr>
        <p:spPr>
          <a:xfrm>
            <a:off x="6400800" y="777240"/>
            <a:ext cx="53031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Coming next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Box 6"/>
          <p:cNvSpPr/>
          <p:nvPr/>
        </p:nvSpPr>
        <p:spPr>
          <a:xfrm>
            <a:off x="6400800" y="1463040"/>
            <a:ext cx="5303160" cy="15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⬜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Phase 10–11 — ENS subnames + text record updates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⬜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Phase 12–15 — Frontend: wallet, agents list, match flow, ENS display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⬜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Phase 16–19 — KeeperHub workflow (full settlement)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⬜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Phase 20–21 — Match replay + audit trail display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⬜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Phase 22 — KeeperHub feedback doc (bounty)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⬜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Phase 24–25 — Deploy + demo video + submission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Rectangle 7"/>
          <p:cNvSpPr/>
          <p:nvPr/>
        </p:nvSpPr>
        <p:spPr>
          <a:xfrm>
            <a:off x="6400800" y="4754880"/>
            <a:ext cx="5303160" cy="173700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2" name="TextBox 8"/>
          <p:cNvSpPr/>
          <p:nvPr/>
        </p:nvSpPr>
        <p:spPr>
          <a:xfrm>
            <a:off x="6537960" y="4846320"/>
            <a:ext cx="5028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1200" spc="-1" strike="noStrike">
                <a:solidFill>
                  <a:srgbClr val="aaaabb"/>
                </a:solidFill>
                <a:latin typeface="Calibri"/>
              </a:rPr>
              <a:t>v2: commit-reveal dice (VRF) · anti-cheat · L2 ENS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r>
              <a:rPr b="0" i="1" lang="en-US" sz="1200" spc="-1" strike="noStrike">
                <a:solidFill>
                  <a:srgbClr val="aaaabb"/>
                </a:solidFill>
                <a:latin typeface="Calibri"/>
              </a:rPr>
              <a:t>v3: agent-vs-agent tournaments · zkML proofs · 0G Compute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aaaabb"/>
                </a:solidFill>
                <a:latin typeface="Calibri"/>
              </a:rPr>
              <a:t>v4: open agent marketplace — bring your own engine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2026-04-27T23:27:43Z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
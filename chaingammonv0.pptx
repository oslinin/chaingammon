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1EE7E0-1D2D-4622-A49A-7B76A73F08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AB1970-286B-44B7-96AA-D7227B0B37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D058DE-42D5-4076-B743-DFF3F4CEAC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8F332B1-3821-4A72-9640-4C28A10C90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F720C92-5DA9-4D82-A781-E02C793057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F19E026-4902-4173-AECB-119B2E82FC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D9A5489-DC77-452C-8A93-A71F2F9C53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117F37D-729C-4CF3-ACEB-52E983824C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68A3E76-2D12-4EE3-9028-88800F5DEB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024A97B-3ECB-4437-8D1B-C512DC2AF1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DCBAFC6-F6BD-4B80-A8DA-59634C50FC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9D0129-AF08-4D30-8669-A34CA1DD8B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1AD2A5-B971-4C51-B09B-4910ACE8FD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811FCB-9B33-47DE-A915-A3A5C759E3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25A1EB-E514-4310-9394-0B2AC03136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07B980-01B0-45A8-A258-84F4DA6A43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76DE80-49A1-4C8D-9A61-28ED23E1D3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DC1BCF-1127-4225-A4E3-0139F5D339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110D56-A842-437F-94F9-2B26C28B62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190EF5-B36E-4558-A518-513018E350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6664E0-6364-4F5F-9F1B-D5E2E9B289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65EEB1-8002-4E17-A753-F083040CB1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7772400" y="-457200"/>
            <a:ext cx="5027760" cy="8228160"/>
          </a:xfrm>
          <a:prstGeom prst="rect">
            <a:avLst/>
          </a:prstGeom>
          <a:solidFill>
            <a:srgbClr val="1614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0"/>
            <a:ext cx="12187440" cy="4557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548640" y="1097280"/>
            <a:ext cx="7313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CHAINGAMMON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548640" y="2286000"/>
            <a:ext cx="7313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00d4aa"/>
                </a:solidFill>
                <a:latin typeface="Calibri"/>
              </a:rPr>
              <a:t>5,000 years of strategy. Finally, a permanent record.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548640" y="3017520"/>
            <a:ext cx="7313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aaabb"/>
                </a:solidFill>
                <a:latin typeface="Calibri"/>
              </a:rPr>
              <a:t>ETHGlobal Open Agents  ·  April 24 – May 6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ectangle 6"/>
          <p:cNvSpPr/>
          <p:nvPr/>
        </p:nvSpPr>
        <p:spPr>
          <a:xfrm>
            <a:off x="548640" y="4114800"/>
            <a:ext cx="1461600" cy="41004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d0d1a"/>
                </a:solidFill>
                <a:latin typeface="Calibri"/>
              </a:rPr>
              <a:t>ENS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2194560" y="4114800"/>
            <a:ext cx="1461600" cy="41004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d0d1a"/>
                </a:solidFill>
                <a:latin typeface="Calibri"/>
              </a:rPr>
              <a:t>0G Chain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ectangle 8"/>
          <p:cNvSpPr/>
          <p:nvPr/>
        </p:nvSpPr>
        <p:spPr>
          <a:xfrm>
            <a:off x="3840480" y="4114800"/>
            <a:ext cx="1461600" cy="41004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d0d1a"/>
                </a:solidFill>
                <a:latin typeface="Calibri"/>
              </a:rPr>
              <a:t>KeeperHub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548640" y="411480"/>
            <a:ext cx="54856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TL;DR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548640" y="868680"/>
            <a:ext cx="1106352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Decentralized, verifiable ELO for backgammon — for humans and for AI agents that live on-chain as 0G iNFTs and learn match by match.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548640" y="2606040"/>
            <a:ext cx="11063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Verifiable. </a:t>
            </a:r>
            <a:r>
              <a:rPr b="0" lang="en-US" sz="1800" spc="-1" strike="noStrike">
                <a:solidFill>
                  <a:srgbClr val="aaaabb"/>
                </a:solidFill>
                <a:latin typeface="Calibri"/>
              </a:rPr>
              <a:t>Every match settles to a MatchRegistry contract. Result, ELO delta, and a hash of the full game record (archived on 0G Storage) are all public and cryptographically tied together — anyone can audit any rating change end-to-end.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548640" y="3931920"/>
            <a:ext cx="110635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Portable. </a:t>
            </a:r>
            <a:r>
              <a:rPr b="0" lang="en-US" sz="1600" spc="-1" strike="noStrike">
                <a:solidFill>
                  <a:srgbClr val="aaaabb"/>
                </a:solidFill>
                <a:latin typeface="Calibri"/>
              </a:rPr>
              <a:t>Each player's rating lives in their wallet via an ENS subname (&lt;name&gt;.chaingammon.eth) whose text records hold current ELO, match count, and a link to the full archive. Switch frontends, switch clients — reputation comes with you.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548640" y="5257800"/>
            <a:ext cx="11063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Living, learning agents. </a:t>
            </a:r>
            <a:r>
              <a:rPr b="0" lang="en-US" sz="1500" spc="-1" strike="noStrike">
                <a:solidFill>
                  <a:srgbClr val="aaaabb"/>
                </a:solidFill>
                <a:latin typeface="Calibri"/>
              </a:rPr>
              <a:t>Each AI agent IS an ERC-7857 iNFT minted on 0G Chain — the token itself, not a label pointing at an off-chain model. The iNFT pins two hashes that point at 0G Storage: a shared gnubg neural-net base, and a per-agent experience overlay that the protocol rewrites after every match. The iNFT learns. Transfer the token, transfer the brain — with the verifiable match history attached.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THE PROBLEM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548640" y="777240"/>
            <a:ext cx="109713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Every backgammon platform is a walled graveyard.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457200" y="1600200"/>
            <a:ext cx="5484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7070"/>
                </a:solidFill>
                <a:latin typeface="Calibri"/>
              </a:rPr>
              <a:t>Platform shutdowns — real losses, real players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457200" y="2057400"/>
            <a:ext cx="5484960" cy="1233000"/>
          </a:xfrm>
          <a:prstGeom prst="rect">
            <a:avLst/>
          </a:prstGeom>
          <a:solidFill>
            <a:srgbClr val="1e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6"/>
          <p:cNvSpPr/>
          <p:nvPr/>
        </p:nvSpPr>
        <p:spPr>
          <a:xfrm>
            <a:off x="457200" y="2057400"/>
            <a:ext cx="199800" cy="1233000"/>
          </a:xfrm>
          <a:prstGeom prst="rect">
            <a:avLst/>
          </a:prstGeom>
          <a:solidFill>
            <a:srgbClr val="ff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731520" y="2103120"/>
            <a:ext cx="821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7070"/>
                </a:solidFill>
                <a:latin typeface="Calibri"/>
              </a:rPr>
              <a:t>2014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1600200" y="2103120"/>
            <a:ext cx="4204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GameSpy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731520" y="2587680"/>
            <a:ext cx="5027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Shut down Apr 30, 2014. All leaderboards, rankings, and statistics deleted overnight. No migration.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10"/>
          <p:cNvSpPr/>
          <p:nvPr/>
        </p:nvSpPr>
        <p:spPr>
          <a:xfrm>
            <a:off x="457200" y="3429000"/>
            <a:ext cx="5484960" cy="1233000"/>
          </a:xfrm>
          <a:prstGeom prst="rect">
            <a:avLst/>
          </a:prstGeom>
          <a:solidFill>
            <a:srgbClr val="1e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11"/>
          <p:cNvSpPr/>
          <p:nvPr/>
        </p:nvSpPr>
        <p:spPr>
          <a:xfrm>
            <a:off x="457200" y="3429000"/>
            <a:ext cx="199800" cy="1233000"/>
          </a:xfrm>
          <a:prstGeom prst="rect">
            <a:avLst/>
          </a:prstGeom>
          <a:solidFill>
            <a:srgbClr val="ff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731520" y="3474720"/>
            <a:ext cx="821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7070"/>
                </a:solidFill>
                <a:latin typeface="Calibri"/>
              </a:rPr>
              <a:t>2020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1600200" y="3474720"/>
            <a:ext cx="42048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Microsoft Internet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Games (Backgammon)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14"/>
          <p:cNvSpPr/>
          <p:nvPr/>
        </p:nvSpPr>
        <p:spPr>
          <a:xfrm>
            <a:off x="731520" y="3959280"/>
            <a:ext cx="5027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Shut down Jan 22, 2020. 20 years of backgammon match history — permanently gone.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 15"/>
          <p:cNvSpPr/>
          <p:nvPr/>
        </p:nvSpPr>
        <p:spPr>
          <a:xfrm>
            <a:off x="457200" y="4800600"/>
            <a:ext cx="5484960" cy="1233000"/>
          </a:xfrm>
          <a:prstGeom prst="rect">
            <a:avLst/>
          </a:prstGeom>
          <a:solidFill>
            <a:srgbClr val="1e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16"/>
          <p:cNvSpPr/>
          <p:nvPr/>
        </p:nvSpPr>
        <p:spPr>
          <a:xfrm>
            <a:off x="457200" y="4800600"/>
            <a:ext cx="199800" cy="1233000"/>
          </a:xfrm>
          <a:prstGeom prst="rect">
            <a:avLst/>
          </a:prstGeom>
          <a:solidFill>
            <a:srgbClr val="ff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731520" y="4846320"/>
            <a:ext cx="821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7070"/>
                </a:solidFill>
                <a:latin typeface="Calibri"/>
              </a:rPr>
              <a:t>2026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18"/>
          <p:cNvSpPr/>
          <p:nvPr/>
        </p:nvSpPr>
        <p:spPr>
          <a:xfrm>
            <a:off x="1600200" y="4846320"/>
            <a:ext cx="4204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Facebook Gaming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9"/>
          <p:cNvSpPr/>
          <p:nvPr/>
        </p:nvSpPr>
        <p:spPr>
          <a:xfrm>
            <a:off x="731520" y="5330880"/>
            <a:ext cx="5027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Creator Program ended Oct 2025; platform fully shutting down. Backgammon games and player data lost.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20"/>
          <p:cNvSpPr/>
          <p:nvPr/>
        </p:nvSpPr>
        <p:spPr>
          <a:xfrm>
            <a:off x="6400800" y="1600200"/>
            <a:ext cx="5302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c84b"/>
                </a:solidFill>
                <a:latin typeface="Calibri"/>
              </a:rPr>
              <a:t>No standard. No portability. Nowhere safe.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21"/>
          <p:cNvSpPr/>
          <p:nvPr/>
        </p:nvSpPr>
        <p:spPr>
          <a:xfrm>
            <a:off x="6400800" y="1920240"/>
            <a:ext cx="5393520" cy="24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FIBS (First Internet Backgammon Server, est. 1992) is the oldest online rating system — 30+ years of play. But ratings are locked on that server: no export, no API, no portability. If FIBS goes dark, three decades of community skill records vanish overnight.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5+ active platforms today: Backgammon Galaxy, PlayOK, VIP Backgammon, BGO, FIBS — ratings don’t transfer between any of them.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Chess has FIDE — a global, portable, federated rating body. Backgammon has nothing equivalent.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Switch platforms → start at 1500. Your skill is real; your record is fiction.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AI agents are even worse: no identity, no history, no verifiable track record across deployments.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22"/>
          <p:cNvSpPr/>
          <p:nvPr/>
        </p:nvSpPr>
        <p:spPr>
          <a:xfrm>
            <a:off x="457200" y="5989320"/>
            <a:ext cx="11245680" cy="684360"/>
          </a:xfrm>
          <a:prstGeom prst="rect">
            <a:avLst/>
          </a:prstGeom>
          <a:solidFill>
            <a:srgbClr val="1e1a42"/>
          </a:solidFill>
          <a:ln w="1905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d4aa"/>
                </a:solidFill>
                <a:latin typeface="Calibri"/>
              </a:rPr>
              <a:t>"California AB 2426 (2024) now requires 30 days’ notice before a game shuts down. It does NOT require preserving your ratings."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Picture 79" descr="game.png"/>
          <p:cNvPicPr/>
          <p:nvPr/>
        </p:nvPicPr>
        <p:blipFill>
          <a:blip r:embed="rId1"/>
          <a:stretch/>
        </p:blipFill>
        <p:spPr>
          <a:xfrm>
            <a:off x="6400800" y="4370760"/>
            <a:ext cx="2833920" cy="1718280"/>
          </a:xfrm>
          <a:prstGeom prst="rect">
            <a:avLst/>
          </a:prstGeom>
          <a:ln w="0">
            <a:noFill/>
          </a:ln>
        </p:spPr>
      </p:pic>
      <p:sp>
        <p:nvSpPr>
          <p:cNvPr id="86" name="TextBox 80"/>
          <p:cNvSpPr/>
          <p:nvPr/>
        </p:nvSpPr>
        <p:spPr>
          <a:xfrm>
            <a:off x="9308520" y="4370760"/>
            <a:ext cx="278820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ff5555"/>
                </a:solidFill>
                <a:latin typeface="Arial"/>
              </a:rPr>
              <a:t>bgkingonline.com — a typical web2 backgammon platform.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The dice don’t know your rating. The “BUY” button does.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Virtual coins sold for real money. Your ELO lives in their database. No portability, no proof, no exit.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MARKET OPPORTUNITY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48640" y="777240"/>
            <a:ext cx="10971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A Polymarket moment for skill — starting with backgammon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457200" y="1554480"/>
            <a:ext cx="5484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c63ff"/>
                </a:solidFill>
                <a:latin typeface="Calibri"/>
              </a:rPr>
              <a:t>The Polymarket parallel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457200" y="2011680"/>
            <a:ext cx="5576400" cy="3826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594360" y="2039040"/>
            <a:ext cx="2558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0d1a"/>
                </a:solidFill>
                <a:latin typeface="Calibri"/>
              </a:rPr>
              <a:t>BEFORE (Web2)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3246120" y="2039040"/>
            <a:ext cx="2650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d0d1a"/>
                </a:solidFill>
                <a:latin typeface="Calibri"/>
              </a:rPr>
              <a:t>AFTER (Chaingammon)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457200" y="2441520"/>
            <a:ext cx="5576400" cy="62028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594360" y="24778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Centralised prediction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markets (PredictIt)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3017520" y="2551320"/>
            <a:ext cx="31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3383280" y="24778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Decentralised game ratings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(on-chain ELO, ENS subnames)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12"/>
          <p:cNvSpPr/>
          <p:nvPr/>
        </p:nvSpPr>
        <p:spPr>
          <a:xfrm>
            <a:off x="457200" y="3117960"/>
            <a:ext cx="5576400" cy="62028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594360" y="31546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Opaque odds set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by operators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3017520" y="3227760"/>
            <a:ext cx="31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3383280" y="31546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ELO computed on-chain,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verifiable by anyone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 16"/>
          <p:cNvSpPr/>
          <p:nvPr/>
        </p:nvSpPr>
        <p:spPr>
          <a:xfrm>
            <a:off x="457200" y="3794760"/>
            <a:ext cx="5576400" cy="62028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594360" y="38314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Permissioned who can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create a market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3017520" y="3904560"/>
            <a:ext cx="31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3383280" y="383148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Permissionless: any platform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can read ENS text records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20"/>
          <p:cNvSpPr/>
          <p:nvPr/>
        </p:nvSpPr>
        <p:spPr>
          <a:xfrm>
            <a:off x="457200" y="4471560"/>
            <a:ext cx="5576400" cy="62028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594360" y="450792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Real $ at stake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aligns accuracy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3017520" y="4581000"/>
            <a:ext cx="31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3383280" y="450792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Real match history on-chain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aligns trust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 24"/>
          <p:cNvSpPr/>
          <p:nvPr/>
        </p:nvSpPr>
        <p:spPr>
          <a:xfrm>
            <a:off x="457200" y="5148000"/>
            <a:ext cx="5576400" cy="62028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594360" y="518472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Prices survive the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platform shutting down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3017520" y="5257800"/>
            <a:ext cx="31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27"/>
          <p:cNvSpPr/>
          <p:nvPr/>
        </p:nvSpPr>
        <p:spPr>
          <a:xfrm>
            <a:off x="3383280" y="5184720"/>
            <a:ext cx="251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Ratings survive the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platform shutting down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6400800" y="1554480"/>
            <a:ext cx="5302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4aa"/>
                </a:solidFill>
                <a:latin typeface="Calibri"/>
              </a:rPr>
              <a:t>Why backgammon first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29"/>
          <p:cNvSpPr/>
          <p:nvPr/>
        </p:nvSpPr>
        <p:spPr>
          <a:xfrm>
            <a:off x="6400800" y="2011680"/>
            <a:ext cx="5393520" cy="20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One of humanity’s oldest games — traced to ancient Mesopotamia, played continuously for 5,000 years across Persian, Roman, and Ottoman empires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Never needed a central authority to stay alive — until the internet put it inside platform silos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The rules haven’t changed; the infrastructure should finally catch up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ELO already used on every platform — portable ratings are the natural next step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gnubg gives a world-class AI baseline: human vs. machine skill gaps are measurable and auditable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30"/>
          <p:cNvSpPr/>
          <p:nvPr/>
        </p:nvSpPr>
        <p:spPr>
          <a:xfrm>
            <a:off x="6400800" y="4663440"/>
            <a:ext cx="530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c84b"/>
                </a:solidFill>
                <a:latin typeface="Calibri"/>
              </a:rPr>
              <a:t>Extensible to any turn-based game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1"/>
          <p:cNvSpPr/>
          <p:nvPr/>
        </p:nvSpPr>
        <p:spPr>
          <a:xfrm>
            <a:off x="6400800" y="5120640"/>
            <a:ext cx="1278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♟  </a:t>
            </a: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Chess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32"/>
          <p:cNvSpPr/>
          <p:nvPr/>
        </p:nvSpPr>
        <p:spPr>
          <a:xfrm>
            <a:off x="7772400" y="5120640"/>
            <a:ext cx="402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FIDE ratings are already semi-portable; on-chain is the full solution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33"/>
          <p:cNvSpPr/>
          <p:nvPr/>
        </p:nvSpPr>
        <p:spPr>
          <a:xfrm>
            <a:off x="6400800" y="5550480"/>
            <a:ext cx="1278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□  </a:t>
            </a: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Go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34"/>
          <p:cNvSpPr/>
          <p:nvPr/>
        </p:nvSpPr>
        <p:spPr>
          <a:xfrm>
            <a:off x="7772400" y="5550480"/>
            <a:ext cx="402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No global digital rating standard — same problem, larger community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35"/>
          <p:cNvSpPr/>
          <p:nvPr/>
        </p:nvSpPr>
        <p:spPr>
          <a:xfrm>
            <a:off x="6400800" y="5980320"/>
            <a:ext cx="1278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ffc84b"/>
                </a:solidFill>
                <a:latin typeface="Calibri"/>
              </a:rPr>
              <a:t>逆  </a:t>
            </a: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Mahjong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36"/>
          <p:cNvSpPr/>
          <p:nvPr/>
        </p:nvSpPr>
        <p:spPr>
          <a:xfrm>
            <a:off x="7772400" y="5980320"/>
            <a:ext cx="4021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Enormous Asian market; zero cross-platform rating portability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37"/>
          <p:cNvSpPr/>
          <p:nvPr/>
        </p:nvSpPr>
        <p:spPr>
          <a:xfrm>
            <a:off x="6400800" y="6409800"/>
            <a:ext cx="1278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✶  </a:t>
            </a: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Any game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38"/>
          <p:cNvSpPr/>
          <p:nvPr/>
        </p:nvSpPr>
        <p:spPr>
          <a:xfrm>
            <a:off x="7772400" y="6409800"/>
            <a:ext cx="402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Any game with reproducible positions + verifiable outcomes can use the protocol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THE SOLUTION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48640" y="822960"/>
            <a:ext cx="10971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Chaingammon — the open backgammon protocol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457200" y="1920240"/>
            <a:ext cx="3656160" cy="411336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457200" y="1920240"/>
            <a:ext cx="3656160" cy="3186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594360" y="2331720"/>
            <a:ext cx="3381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🪪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Identity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594360" y="2926080"/>
            <a:ext cx="3381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ENS subname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alice.chaingammon.eth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carries ELO, match count,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style URI, archive URI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8"/>
          <p:cNvSpPr/>
          <p:nvPr/>
        </p:nvSpPr>
        <p:spPr>
          <a:xfrm>
            <a:off x="4343400" y="1920240"/>
            <a:ext cx="3656160" cy="411336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4343400" y="1920240"/>
            <a:ext cx="3656160" cy="31860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4480560" y="2331720"/>
            <a:ext cx="3381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Agent iNFT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4480560" y="2926080"/>
            <a:ext cx="3381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ERC-7857 iNFT on 0G Chain.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Encrypted gnubg weights +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learned experience overlay,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aaaabb"/>
                </a:solidFill>
                <a:latin typeface="Calibri"/>
              </a:rPr>
              <a:t>both on 0G Storage.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12"/>
          <p:cNvSpPr/>
          <p:nvPr/>
        </p:nvSpPr>
        <p:spPr>
          <a:xfrm>
            <a:off x="8229600" y="1920240"/>
            <a:ext cx="3656160" cy="411336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13"/>
          <p:cNvSpPr/>
          <p:nvPr/>
        </p:nvSpPr>
        <p:spPr>
          <a:xfrm>
            <a:off x="8229600" y="1920240"/>
            <a:ext cx="3656160" cy="31860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8366760" y="2331720"/>
            <a:ext cx="3381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⚖️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Settlement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8458200" y="2665080"/>
            <a:ext cx="338184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Each result is cryptographically committed: the full move-by-move archive hashed and tied permanently to an on-chain record.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Why KeeperHub, not the server? The server is the game operator — letting it also settle results is like a referee keeping score for their own team. KeeperHub is a neutral keeper network: it retries on failure, optimises gas, and runs even if the server goes offline after firing the trigger.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KeeperHub orchestrates: recordMatch → ENS update → overlay hash → audit trail.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Why not just server → 0G? Anyone can write anything to 0G. The KeeperHub audit is a keeper-signed receipt listing each step's on-chain tx hash, timestamp, gas, and retry count — verify any step on the block explorer, no trust required.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HOW IT WORKS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548640" y="77724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End-to-end match lifecycle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Oval 4"/>
          <p:cNvSpPr/>
          <p:nvPr/>
        </p:nvSpPr>
        <p:spPr>
          <a:xfrm>
            <a:off x="457200" y="164592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960120" y="164592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Connect wallet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960120" y="205740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Frontend auto-issues alice.chaingammon.eth ENS subname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Oval 7"/>
          <p:cNvSpPr/>
          <p:nvPr/>
        </p:nvSpPr>
        <p:spPr>
          <a:xfrm>
            <a:off x="4343400" y="164592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4846320" y="164592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Pick opponent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4846320" y="205740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Another human subname, or an AI agent iNFT (gnubg-advanced-1.chaingammon.eth)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Oval 10"/>
          <p:cNvSpPr/>
          <p:nvPr/>
        </p:nvSpPr>
        <p:spPr>
          <a:xfrm>
            <a:off x="8229600" y="164592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8732520" y="164592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Play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8732520" y="205740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Server rolls dice; gnubg weights pulled from 0G Storage, run server-side per turn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Oval 13"/>
          <p:cNvSpPr/>
          <p:nvPr/>
        </p:nvSpPr>
        <p:spPr>
          <a:xfrm>
            <a:off x="457200" y="411480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960120" y="411480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Game ends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960120" y="452628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Server builds GameRecord JSON → uploads to 0G Storage → gets Merkle rootHash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Oval 16"/>
          <p:cNvSpPr/>
          <p:nvPr/>
        </p:nvSpPr>
        <p:spPr>
          <a:xfrm>
            <a:off x="4343400" y="411480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17"/>
          <p:cNvSpPr/>
          <p:nvPr/>
        </p:nvSpPr>
        <p:spPr>
          <a:xfrm>
            <a:off x="4846320" y="411480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KeeperHub fires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4846320" y="452628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recordMatch on-chain (with rootHash) + ENS text records updated + agent overlay refreshed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Oval 19"/>
          <p:cNvSpPr/>
          <p:nvPr/>
        </p:nvSpPr>
        <p:spPr>
          <a:xfrm>
            <a:off x="8229600" y="4114800"/>
            <a:ext cx="410040" cy="410040"/>
          </a:xfrm>
          <a:prstGeom prst="ellipse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20"/>
          <p:cNvSpPr/>
          <p:nvPr/>
        </p:nvSpPr>
        <p:spPr>
          <a:xfrm>
            <a:off x="8732520" y="4114800"/>
            <a:ext cx="319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Audit published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21"/>
          <p:cNvSpPr/>
          <p:nvPr/>
        </p:nvSpPr>
        <p:spPr>
          <a:xfrm>
            <a:off x="8732520" y="4526280"/>
            <a:ext cx="3198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KeeperHub audit JSON mirrored to 0G Storage; match replay publicly accessible forever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SPONSOR SPOTLIGHT — ENS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548640" y="777240"/>
            <a:ext cx="10971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ENS subnames as portable player identity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457200" y="1554480"/>
            <a:ext cx="5302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c63ff"/>
                </a:solidFill>
                <a:latin typeface="Calibri"/>
              </a:rPr>
              <a:t>What is ENS?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457200" y="2011680"/>
            <a:ext cx="5302080" cy="16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Ethereum Name Service — the DNS of Web3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Human-readable names (alice.eth) resolve to addresses, content hashes, and arbitrary text records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Subnames: any .eth owner can issue &lt;label&gt;.&lt;name&gt;.eth — delegated, on-chain, free to transfer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Text records are on-chain structured metadata: a player is just a name + a bag of key-value facts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457200" y="4434840"/>
            <a:ext cx="5302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Why subnames are the right primitive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457200" y="4892040"/>
            <a:ext cx="5302080" cy="11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Platform-portable: alice.chaingammon.eth exists even if Chaingammon.com goes dark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Composable: any dApp reads text records permissionlessly via ENS resolver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Human-readable: beats 0x4a…3f in leaderboards, match UIs, and social sharing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Hierarchical trust: chaingammon.eth controls issuance; player controls the name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6400800" y="1554480"/>
            <a:ext cx="5302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4aa"/>
                </a:solidFill>
                <a:latin typeface="Calibri"/>
              </a:rPr>
              <a:t>alice.chaingammon.eth  text records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 9"/>
          <p:cNvSpPr/>
          <p:nvPr/>
        </p:nvSpPr>
        <p:spPr>
          <a:xfrm>
            <a:off x="6400800" y="205740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6510600" y="2094120"/>
            <a:ext cx="1370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Calibri"/>
              </a:rPr>
              <a:t>elo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8001000" y="2094120"/>
            <a:ext cx="187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c84b"/>
                </a:solidFill>
                <a:latin typeface="Calibri"/>
              </a:rPr>
              <a:t>1847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2"/>
          <p:cNvSpPr/>
          <p:nvPr/>
        </p:nvSpPr>
        <p:spPr>
          <a:xfrm>
            <a:off x="6510600" y="2459880"/>
            <a:ext cx="5164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Current ELO rating — updated after every match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13"/>
          <p:cNvSpPr/>
          <p:nvPr/>
        </p:nvSpPr>
        <p:spPr>
          <a:xfrm>
            <a:off x="6400800" y="2935080"/>
            <a:ext cx="5393520" cy="8031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4"/>
          <p:cNvSpPr/>
          <p:nvPr/>
        </p:nvSpPr>
        <p:spPr>
          <a:xfrm>
            <a:off x="6510600" y="2971800"/>
            <a:ext cx="1370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Calibri"/>
              </a:rPr>
              <a:t>match_count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Box 15"/>
          <p:cNvSpPr/>
          <p:nvPr/>
        </p:nvSpPr>
        <p:spPr>
          <a:xfrm>
            <a:off x="8001000" y="2971800"/>
            <a:ext cx="187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c84b"/>
                </a:solidFill>
                <a:latin typeface="Calibri"/>
              </a:rPr>
              <a:t>42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16"/>
          <p:cNvSpPr/>
          <p:nvPr/>
        </p:nvSpPr>
        <p:spPr>
          <a:xfrm>
            <a:off x="6510600" y="3337560"/>
            <a:ext cx="5164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Total games played, on-chain provenance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ectangle 17"/>
          <p:cNvSpPr/>
          <p:nvPr/>
        </p:nvSpPr>
        <p:spPr>
          <a:xfrm>
            <a:off x="6400800" y="381312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6510600" y="3849480"/>
            <a:ext cx="1370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Calibri"/>
              </a:rPr>
              <a:t>last_match_id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9"/>
          <p:cNvSpPr/>
          <p:nvPr/>
        </p:nvSpPr>
        <p:spPr>
          <a:xfrm>
            <a:off x="8001000" y="3849480"/>
            <a:ext cx="187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c84b"/>
                </a:solidFill>
                <a:latin typeface="Calibri"/>
              </a:rPr>
              <a:t>0x1f…c3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20"/>
          <p:cNvSpPr/>
          <p:nvPr/>
        </p:nvSpPr>
        <p:spPr>
          <a:xfrm>
            <a:off x="6510600" y="4215240"/>
            <a:ext cx="5164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Pointer to latest MatchRegistry entry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ectangle 21"/>
          <p:cNvSpPr/>
          <p:nvPr/>
        </p:nvSpPr>
        <p:spPr>
          <a:xfrm>
            <a:off x="6400800" y="4690800"/>
            <a:ext cx="5393520" cy="8031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2"/>
          <p:cNvSpPr/>
          <p:nvPr/>
        </p:nvSpPr>
        <p:spPr>
          <a:xfrm>
            <a:off x="6510600" y="4727520"/>
            <a:ext cx="1370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Calibri"/>
              </a:rPr>
              <a:t>style_uri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23"/>
          <p:cNvSpPr/>
          <p:nvPr/>
        </p:nvSpPr>
        <p:spPr>
          <a:xfrm>
            <a:off x="8001000" y="4727520"/>
            <a:ext cx="187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c84b"/>
                </a:solidFill>
                <a:latin typeface="Calibri"/>
              </a:rPr>
              <a:t>0g://kv/alice/style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24"/>
          <p:cNvSpPr/>
          <p:nvPr/>
        </p:nvSpPr>
        <p:spPr>
          <a:xfrm>
            <a:off x="6510600" y="5093280"/>
            <a:ext cx="5164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Link to 0G KV style profile (opening tendencies, cube aggression)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 25"/>
          <p:cNvSpPr/>
          <p:nvPr/>
        </p:nvSpPr>
        <p:spPr>
          <a:xfrm>
            <a:off x="6400800" y="556884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6"/>
          <p:cNvSpPr/>
          <p:nvPr/>
        </p:nvSpPr>
        <p:spPr>
          <a:xfrm>
            <a:off x="6510600" y="5605200"/>
            <a:ext cx="1370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Calibri"/>
              </a:rPr>
              <a:t>archive_uri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27"/>
          <p:cNvSpPr/>
          <p:nvPr/>
        </p:nvSpPr>
        <p:spPr>
          <a:xfrm>
            <a:off x="8001000" y="5605200"/>
            <a:ext cx="187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c84b"/>
                </a:solidFill>
                <a:latin typeface="Calibri"/>
              </a:rPr>
              <a:t>0g://log/alice/games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28"/>
          <p:cNvSpPr/>
          <p:nvPr/>
        </p:nvSpPr>
        <p:spPr>
          <a:xfrm>
            <a:off x="6510600" y="5970960"/>
            <a:ext cx="51649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Link to full 0G Log of all game records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29"/>
          <p:cNvSpPr/>
          <p:nvPr/>
        </p:nvSpPr>
        <p:spPr>
          <a:xfrm>
            <a:off x="6400800" y="6492240"/>
            <a:ext cx="539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aaabb"/>
                </a:solidFill>
                <a:latin typeface="Calibri"/>
              </a:rPr>
              <a:t>PlayerSubnameRegistrar.sol issues names; KeeperHub writes text records post-match.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SPONSOR SPOTLIGHT — 0G CHAIN &amp; STORAGE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548640" y="77724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AI-native modular blockchain — chain + storage in one stack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457200" y="160020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457200" y="1600200"/>
            <a:ext cx="5576400" cy="3186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594360" y="1993320"/>
            <a:ext cx="530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0G Chain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594360" y="2423160"/>
            <a:ext cx="5302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EVM-compatible L1  ·  chainId 16602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Fast finality, EVM Cancun opcodes.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Hosts MatchRegistry, AgentRegistry, EloMath, PlayerSubnameRegistrar.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Verified on chainscan-galileo block explorer.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 8"/>
          <p:cNvSpPr/>
          <p:nvPr/>
        </p:nvSpPr>
        <p:spPr>
          <a:xfrm>
            <a:off x="6309360" y="160020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9"/>
          <p:cNvSpPr/>
          <p:nvPr/>
        </p:nvSpPr>
        <p:spPr>
          <a:xfrm>
            <a:off x="6309360" y="1600200"/>
            <a:ext cx="5576400" cy="31860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10"/>
          <p:cNvSpPr/>
          <p:nvPr/>
        </p:nvSpPr>
        <p:spPr>
          <a:xfrm>
            <a:off x="6446520" y="1993320"/>
            <a:ext cx="530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0G Storage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6446520" y="2423160"/>
            <a:ext cx="5302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Decentralized, content-addressed, permanent.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Three primitives: Log (append-only), KV (key-value), Blob (binary).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Upload returns a root hash you can commit on-chain.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Designed for AI/ML workloads — ideal for model weights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457200" y="3840480"/>
            <a:ext cx="10971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c84b"/>
                </a:solidFill>
                <a:latin typeface="Calibri"/>
              </a:rPr>
              <a:t>Why 0G is the right fit for Chaingammon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457200" y="4343400"/>
            <a:ext cx="5576400" cy="9129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594360" y="438912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Content-addressed linking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94360" y="4745880"/>
            <a:ext cx="53020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rootHash returned by 0G Storage is committed in MatchRegistry.recordMatch — chain ⇔ storage in one atomic reference.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Rectangle 16"/>
          <p:cNvSpPr/>
          <p:nvPr/>
        </p:nvSpPr>
        <p:spPr>
          <a:xfrm>
            <a:off x="6309360" y="4343400"/>
            <a:ext cx="5576400" cy="9129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6446520" y="438912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AI-native storage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6446520" y="4745880"/>
            <a:ext cx="53020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gnubg neural-network weights (~408 KB) and per-agent experience overlays live in 0G Blob. 0G was built for exactly this.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Rectangle 19"/>
          <p:cNvSpPr/>
          <p:nvPr/>
        </p:nvSpPr>
        <p:spPr>
          <a:xfrm>
            <a:off x="457200" y="5349240"/>
            <a:ext cx="5576400" cy="9129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594360" y="539496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Immutable audit trail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594360" y="5751720"/>
            <a:ext cx="53020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Log type is append-only. Game records and KeeperHub audit JSONs persist forever without IPFS pinning risk.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22"/>
          <p:cNvSpPr/>
          <p:nvPr/>
        </p:nvSpPr>
        <p:spPr>
          <a:xfrm>
            <a:off x="6309360" y="5349240"/>
            <a:ext cx="5576400" cy="9129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23"/>
          <p:cNvSpPr/>
          <p:nvPr/>
        </p:nvSpPr>
        <p:spPr>
          <a:xfrm>
            <a:off x="6446520" y="539496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One chain, one SDK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24"/>
          <p:cNvSpPr/>
          <p:nvPr/>
        </p:nvSpPr>
        <p:spPr>
          <a:xfrm>
            <a:off x="6446520" y="5751720"/>
            <a:ext cx="53020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og-bridge wraps @0gfoundation/0g-ts-sdk. Same RPC for contracts and storage — no cross-chain bridging ceremony.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SPONSOR SPOTLIGHT — KEEPERHUB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548640" y="777240"/>
            <a:ext cx="10971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Programmable keeper automation for multi-step Web3 workflows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457200" y="1554480"/>
            <a:ext cx="5302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c84b"/>
                </a:solidFill>
                <a:latin typeface="Calibri"/>
              </a:rPr>
              <a:t>What is KeeperHub?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457200" y="2011680"/>
            <a:ext cx="5393520" cy="20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Keeper network: third-party bots watch for triggers and execute arbitrary on-chain transactions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Workflow engine: define ordered steps with retry logic, gas configuration, and conditional branching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Triggers: HTTP webhooks, on-chain events, cron schedules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Audit-first: every workflow run produces a full execution trace with timestamps, retries, and gas used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▸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Decoupled from the app: KeeperHub will execute even if your server goes offline after firing the trigger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457200" y="507492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c63ff"/>
                </a:solidFill>
                <a:latin typeface="Calibri"/>
              </a:rPr>
              <a:t>vs. doing settlement in the server: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457200" y="5486400"/>
            <a:ext cx="539352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Server crashes mid-settlement → KeeperHub retries independently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Gas spikes → KeeperHub optimizes and resubmits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4 contract calls in sequence → one atomic workflow definition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Compliance / audit → signed execution receipts, not server logs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6400800" y="1554480"/>
            <a:ext cx="5302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c84b"/>
                </a:solidFill>
                <a:latin typeface="Calibri"/>
              </a:rPr>
              <a:t>Chaingammon settlement workflow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ectangle 9"/>
          <p:cNvSpPr/>
          <p:nvPr/>
        </p:nvSpPr>
        <p:spPr>
          <a:xfrm>
            <a:off x="6400800" y="201168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Rectangle 10"/>
          <p:cNvSpPr/>
          <p:nvPr/>
        </p:nvSpPr>
        <p:spPr>
          <a:xfrm>
            <a:off x="6400800" y="2011680"/>
            <a:ext cx="181440" cy="8031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6675120" y="2048400"/>
            <a:ext cx="5027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HTTP trigger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12"/>
          <p:cNvSpPr/>
          <p:nvPr/>
        </p:nvSpPr>
        <p:spPr>
          <a:xfrm>
            <a:off x="6675120" y="2414160"/>
            <a:ext cx="502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Server calls POST /trigger after game ends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Box 13"/>
          <p:cNvSpPr/>
          <p:nvPr/>
        </p:nvSpPr>
        <p:spPr>
          <a:xfrm>
            <a:off x="6473880" y="2816280"/>
            <a:ext cx="227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Calibri"/>
              </a:rPr>
              <a:t>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 14"/>
          <p:cNvSpPr/>
          <p:nvPr/>
        </p:nvSpPr>
        <p:spPr>
          <a:xfrm>
            <a:off x="6400800" y="289872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ectangle 15"/>
          <p:cNvSpPr/>
          <p:nvPr/>
        </p:nvSpPr>
        <p:spPr>
          <a:xfrm>
            <a:off x="6400800" y="2898720"/>
            <a:ext cx="181440" cy="8031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6675120" y="2935080"/>
            <a:ext cx="5027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recordMatch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17"/>
          <p:cNvSpPr/>
          <p:nvPr/>
        </p:nvSpPr>
        <p:spPr>
          <a:xfrm>
            <a:off x="6675120" y="3300840"/>
            <a:ext cx="5027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MatchRegistry.recordMatch(winner, loser, length, gameRecordHash) → emits EloUpdated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18"/>
          <p:cNvSpPr/>
          <p:nvPr/>
        </p:nvSpPr>
        <p:spPr>
          <a:xfrm>
            <a:off x="6473880" y="3703320"/>
            <a:ext cx="227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Calibri"/>
              </a:rPr>
              <a:t>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 19"/>
          <p:cNvSpPr/>
          <p:nvPr/>
        </p:nvSpPr>
        <p:spPr>
          <a:xfrm>
            <a:off x="6400800" y="378576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20"/>
          <p:cNvSpPr/>
          <p:nvPr/>
        </p:nvSpPr>
        <p:spPr>
          <a:xfrm>
            <a:off x="6400800" y="3785760"/>
            <a:ext cx="181440" cy="803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6675120" y="3822120"/>
            <a:ext cx="5027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ENS text records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22"/>
          <p:cNvSpPr/>
          <p:nvPr/>
        </p:nvSpPr>
        <p:spPr>
          <a:xfrm>
            <a:off x="6675120" y="4187880"/>
            <a:ext cx="5027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setText on alice.chaingammon.eth and opponent: elo, match_count, last_match_id, archive_uri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23"/>
          <p:cNvSpPr/>
          <p:nvPr/>
        </p:nvSpPr>
        <p:spPr>
          <a:xfrm>
            <a:off x="6473880" y="4590360"/>
            <a:ext cx="227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Calibri"/>
              </a:rPr>
              <a:t>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ectangle 24"/>
          <p:cNvSpPr/>
          <p:nvPr/>
        </p:nvSpPr>
        <p:spPr>
          <a:xfrm>
            <a:off x="6400800" y="467244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ectangle 25"/>
          <p:cNvSpPr/>
          <p:nvPr/>
        </p:nvSpPr>
        <p:spPr>
          <a:xfrm>
            <a:off x="6400800" y="4672440"/>
            <a:ext cx="181440" cy="80316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26"/>
          <p:cNvSpPr/>
          <p:nvPr/>
        </p:nvSpPr>
        <p:spPr>
          <a:xfrm>
            <a:off x="6675120" y="4709160"/>
            <a:ext cx="5027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updateOverlayHash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7"/>
          <p:cNvSpPr/>
          <p:nvPr/>
        </p:nvSpPr>
        <p:spPr>
          <a:xfrm>
            <a:off x="6675120" y="5074920"/>
            <a:ext cx="502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AgentRegistry.updateOverlayHash(agentId, newHash) bumps experienceVersion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28"/>
          <p:cNvSpPr/>
          <p:nvPr/>
        </p:nvSpPr>
        <p:spPr>
          <a:xfrm>
            <a:off x="6473880" y="5477400"/>
            <a:ext cx="227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Calibri"/>
              </a:rPr>
              <a:t>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ectangle 29"/>
          <p:cNvSpPr/>
          <p:nvPr/>
        </p:nvSpPr>
        <p:spPr>
          <a:xfrm>
            <a:off x="6400800" y="555948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30"/>
          <p:cNvSpPr/>
          <p:nvPr/>
        </p:nvSpPr>
        <p:spPr>
          <a:xfrm>
            <a:off x="6400800" y="5559480"/>
            <a:ext cx="181440" cy="803160"/>
          </a:xfrm>
          <a:prstGeom prst="rect">
            <a:avLst/>
          </a:prstGeom>
          <a:solidFill>
            <a:srgbClr val="c08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31"/>
          <p:cNvSpPr/>
          <p:nvPr/>
        </p:nvSpPr>
        <p:spPr>
          <a:xfrm>
            <a:off x="6675120" y="5596200"/>
            <a:ext cx="5027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Audit export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32"/>
          <p:cNvSpPr/>
          <p:nvPr/>
        </p:nvSpPr>
        <p:spPr>
          <a:xfrm>
            <a:off x="6675120" y="5961960"/>
            <a:ext cx="502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Full trace → 0G Storage Log → publicly viewable settlement proof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Box 33"/>
          <p:cNvSpPr/>
          <p:nvPr/>
        </p:nvSpPr>
        <p:spPr>
          <a:xfrm>
            <a:off x="6400800" y="6492240"/>
            <a:ext cx="539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aaabb"/>
                </a:solidFill>
                <a:latin typeface="Calibri"/>
              </a:rPr>
              <a:t>kh CLI defines the workflow YAML; the server only fires the trigger.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AI AGENTS AS iNFTs  (ERC-7857)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548640" y="77724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Agents that carry verifiable, portable intelligence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548640" y="1600200"/>
            <a:ext cx="530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0d4aa"/>
                </a:solidFill>
                <a:latin typeface="Calibri"/>
              </a:rPr>
              <a:t>Two data hashes per iNFT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Rectangle 5"/>
          <p:cNvSpPr/>
          <p:nvPr/>
        </p:nvSpPr>
        <p:spPr>
          <a:xfrm>
            <a:off x="457200" y="2148840"/>
            <a:ext cx="5484960" cy="1690200"/>
          </a:xfrm>
          <a:prstGeom prst="rect">
            <a:avLst/>
          </a:prstGeom>
          <a:solidFill>
            <a:srgbClr val="141228"/>
          </a:solidFill>
          <a:ln w="1270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6"/>
          <p:cNvSpPr/>
          <p:nvPr/>
        </p:nvSpPr>
        <p:spPr>
          <a:xfrm>
            <a:off x="640080" y="2240280"/>
            <a:ext cx="502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dataHashes[0]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7"/>
          <p:cNvSpPr/>
          <p:nvPr/>
        </p:nvSpPr>
        <p:spPr>
          <a:xfrm>
            <a:off x="640080" y="2514600"/>
            <a:ext cx="5027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baseWeightsHash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640080" y="2834640"/>
            <a:ext cx="5027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Shared across ALL agents — encrypted gnubg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neural-network weights on 0G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Verifies: 'this agent runs real gnubg.'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Rectangle 9"/>
          <p:cNvSpPr/>
          <p:nvPr/>
        </p:nvSpPr>
        <p:spPr>
          <a:xfrm>
            <a:off x="457200" y="4069080"/>
            <a:ext cx="5484960" cy="1690200"/>
          </a:xfrm>
          <a:prstGeom prst="rect">
            <a:avLst/>
          </a:prstGeom>
          <a:solidFill>
            <a:srgbClr val="141228"/>
          </a:solidFill>
          <a:ln w="1270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10"/>
          <p:cNvSpPr/>
          <p:nvPr/>
        </p:nvSpPr>
        <p:spPr>
          <a:xfrm>
            <a:off x="640080" y="4160520"/>
            <a:ext cx="502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dataHashes[1]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11"/>
          <p:cNvSpPr/>
          <p:nvPr/>
        </p:nvSpPr>
        <p:spPr>
          <a:xfrm>
            <a:off x="640080" y="4434840"/>
            <a:ext cx="5027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overlayHash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Box 12"/>
          <p:cNvSpPr/>
          <p:nvPr/>
        </p:nvSpPr>
        <p:spPr>
          <a:xfrm>
            <a:off x="640080" y="4754880"/>
            <a:ext cx="5027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Per-agent experience overlay — a ~20-float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vector that biases move selection and grows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with every match played.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13"/>
          <p:cNvSpPr/>
          <p:nvPr/>
        </p:nvSpPr>
        <p:spPr>
          <a:xfrm>
            <a:off x="6492240" y="1600200"/>
            <a:ext cx="502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c84b"/>
                </a:solidFill>
                <a:latin typeface="Calibri"/>
              </a:rPr>
              <a:t>Tier system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ectangle 14"/>
          <p:cNvSpPr/>
          <p:nvPr/>
        </p:nvSpPr>
        <p:spPr>
          <a:xfrm>
            <a:off x="6492240" y="2148840"/>
            <a:ext cx="5302080" cy="86724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15"/>
          <p:cNvSpPr/>
          <p:nvPr/>
        </p:nvSpPr>
        <p:spPr>
          <a:xfrm>
            <a:off x="6583680" y="2194560"/>
            <a:ext cx="8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Tier 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Box 16"/>
          <p:cNvSpPr/>
          <p:nvPr/>
        </p:nvSpPr>
        <p:spPr>
          <a:xfrm>
            <a:off x="7498080" y="2194560"/>
            <a:ext cx="1827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Beginner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17"/>
          <p:cNvSpPr/>
          <p:nvPr/>
        </p:nvSpPr>
        <p:spPr>
          <a:xfrm>
            <a:off x="6583680" y="2560320"/>
            <a:ext cx="4113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gnubg 0-ply (immediate eval)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18"/>
          <p:cNvSpPr/>
          <p:nvPr/>
        </p:nvSpPr>
        <p:spPr>
          <a:xfrm>
            <a:off x="6492240" y="3154680"/>
            <a:ext cx="5302080" cy="86724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19"/>
          <p:cNvSpPr/>
          <p:nvPr/>
        </p:nvSpPr>
        <p:spPr>
          <a:xfrm>
            <a:off x="6583680" y="3200400"/>
            <a:ext cx="8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Tier 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20"/>
          <p:cNvSpPr/>
          <p:nvPr/>
        </p:nvSpPr>
        <p:spPr>
          <a:xfrm>
            <a:off x="7498080" y="3200400"/>
            <a:ext cx="1827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Intermediate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6583680" y="3566160"/>
            <a:ext cx="4113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gnubg 2-ply (looks 2 moves ahead)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ectangle 22"/>
          <p:cNvSpPr/>
          <p:nvPr/>
        </p:nvSpPr>
        <p:spPr>
          <a:xfrm>
            <a:off x="6492240" y="4160520"/>
            <a:ext cx="5302080" cy="86724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23"/>
          <p:cNvSpPr/>
          <p:nvPr/>
        </p:nvSpPr>
        <p:spPr>
          <a:xfrm>
            <a:off x="6583680" y="4206240"/>
            <a:ext cx="8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Tier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Box 24"/>
          <p:cNvSpPr/>
          <p:nvPr/>
        </p:nvSpPr>
        <p:spPr>
          <a:xfrm>
            <a:off x="7498080" y="4206240"/>
            <a:ext cx="1827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Advanced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25"/>
          <p:cNvSpPr/>
          <p:nvPr/>
        </p:nvSpPr>
        <p:spPr>
          <a:xfrm>
            <a:off x="6583680" y="4572000"/>
            <a:ext cx="4113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gnubg 3-ply (deeper search)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ectangle 26"/>
          <p:cNvSpPr/>
          <p:nvPr/>
        </p:nvSpPr>
        <p:spPr>
          <a:xfrm>
            <a:off x="6492240" y="5166360"/>
            <a:ext cx="5302080" cy="86724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27"/>
          <p:cNvSpPr/>
          <p:nvPr/>
        </p:nvSpPr>
        <p:spPr>
          <a:xfrm>
            <a:off x="6583680" y="5212080"/>
            <a:ext cx="8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Tier 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28"/>
          <p:cNvSpPr/>
          <p:nvPr/>
        </p:nvSpPr>
        <p:spPr>
          <a:xfrm>
            <a:off x="7498080" y="5212080"/>
            <a:ext cx="1827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World-class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29"/>
          <p:cNvSpPr/>
          <p:nvPr/>
        </p:nvSpPr>
        <p:spPr>
          <a:xfrm>
            <a:off x="6583680" y="5577840"/>
            <a:ext cx="4113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aabb"/>
                </a:solidFill>
                <a:latin typeface="Calibri"/>
              </a:rPr>
              <a:t>gnubg full rollout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Box 30"/>
          <p:cNvSpPr/>
          <p:nvPr/>
        </p:nvSpPr>
        <p:spPr>
          <a:xfrm>
            <a:off x="6492240" y="6080760"/>
            <a:ext cx="530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d4aa"/>
                </a:solidFill>
                <a:latin typeface="Calibri"/>
              </a:rPr>
              <a:t>Two same-tier agents start identically — then drift into different styles as their match histories diverge.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502920"/>
            <a:ext cx="12187800" cy="446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57200" y="109800"/>
            <a:ext cx="11273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Arial"/>
              </a:rPr>
              <a:t>GNUBG AGENT LEARNING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57200" y="560160"/>
            <a:ext cx="11273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Neural-network position evaluation + per-agent bias vector + look-ahead depth = a unique, evolving player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Rectangle 4"/>
          <p:cNvSpPr/>
          <p:nvPr/>
        </p:nvSpPr>
        <p:spPr>
          <a:xfrm>
            <a:off x="457200" y="1000080"/>
            <a:ext cx="2998800" cy="5596920"/>
          </a:xfrm>
          <a:prstGeom prst="rect">
            <a:avLst/>
          </a:prstGeom>
          <a:solidFill>
            <a:srgbClr val="16162e"/>
          </a:solidFill>
          <a:ln w="19050">
            <a:solidFill>
              <a:srgbClr val="6c63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5"/>
          <p:cNvSpPr/>
          <p:nvPr/>
        </p:nvSpPr>
        <p:spPr>
          <a:xfrm>
            <a:off x="3777120" y="1000080"/>
            <a:ext cx="3198960" cy="5596920"/>
          </a:xfrm>
          <a:prstGeom prst="rect">
            <a:avLst/>
          </a:prstGeom>
          <a:solidFill>
            <a:srgbClr val="16162e"/>
          </a:solidFill>
          <a:ln w="19050">
            <a:solidFill>
              <a:srgbClr val="00d4a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Rectangle 6"/>
          <p:cNvSpPr/>
          <p:nvPr/>
        </p:nvSpPr>
        <p:spPr>
          <a:xfrm>
            <a:off x="7297200" y="1000080"/>
            <a:ext cx="4433400" cy="5596920"/>
          </a:xfrm>
          <a:prstGeom prst="rect">
            <a:avLst/>
          </a:prstGeom>
          <a:solidFill>
            <a:srgbClr val="16162e"/>
          </a:solidFill>
          <a:ln w="19050">
            <a:solidFill>
              <a:srgbClr val="ffc84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557280" y="1100160"/>
            <a:ext cx="27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6c63ff"/>
                </a:solidFill>
                <a:latin typeface="Arial"/>
              </a:rPr>
              <a:t>Board Position Vector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3877200" y="1100160"/>
            <a:ext cx="29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d4aa"/>
                </a:solidFill>
                <a:latin typeface="Arial"/>
              </a:rPr>
              <a:t>Experience Overlay (bias vector)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Box 9"/>
          <p:cNvSpPr/>
          <p:nvPr/>
        </p:nvSpPr>
        <p:spPr>
          <a:xfrm>
            <a:off x="7397280" y="1100160"/>
            <a:ext cx="4233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c84b"/>
                </a:solidFill>
                <a:latin typeface="Arial"/>
              </a:rPr>
              <a:t>Ply Depth → Skill Level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10"/>
          <p:cNvSpPr/>
          <p:nvPr/>
        </p:nvSpPr>
        <p:spPr>
          <a:xfrm>
            <a:off x="3457080" y="3598920"/>
            <a:ext cx="318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aaaabb"/>
                </a:solidFill>
                <a:latin typeface="Arial"/>
              </a:rPr>
              <a:t>+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Box 11"/>
          <p:cNvSpPr/>
          <p:nvPr/>
        </p:nvSpPr>
        <p:spPr>
          <a:xfrm>
            <a:off x="6977160" y="3598920"/>
            <a:ext cx="318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aaaabb"/>
                </a:solidFill>
                <a:latin typeface="Arial"/>
              </a:rPr>
              <a:t>→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557280" y="1419840"/>
            <a:ext cx="2799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185-float board encoding (sample entries):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13"/>
          <p:cNvSpPr/>
          <p:nvPr/>
        </p:nvSpPr>
        <p:spPr>
          <a:xfrm>
            <a:off x="537120" y="1659960"/>
            <a:ext cx="28389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4"/>
          <p:cNvSpPr/>
          <p:nvPr/>
        </p:nvSpPr>
        <p:spPr>
          <a:xfrm>
            <a:off x="617040" y="169992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point_6_own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15"/>
          <p:cNvSpPr/>
          <p:nvPr/>
        </p:nvSpPr>
        <p:spPr>
          <a:xfrm>
            <a:off x="2297160" y="169992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617040" y="199008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point_8_own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17"/>
          <p:cNvSpPr/>
          <p:nvPr/>
        </p:nvSpPr>
        <p:spPr>
          <a:xfrm>
            <a:off x="2297160" y="199008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Rectangle 18"/>
          <p:cNvSpPr/>
          <p:nvPr/>
        </p:nvSpPr>
        <p:spPr>
          <a:xfrm>
            <a:off x="537120" y="2239920"/>
            <a:ext cx="28389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19"/>
          <p:cNvSpPr/>
          <p:nvPr/>
        </p:nvSpPr>
        <p:spPr>
          <a:xfrm>
            <a:off x="617040" y="227988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point_13_own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Box 20"/>
          <p:cNvSpPr/>
          <p:nvPr/>
        </p:nvSpPr>
        <p:spPr>
          <a:xfrm>
            <a:off x="2297160" y="227988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21"/>
          <p:cNvSpPr/>
          <p:nvPr/>
        </p:nvSpPr>
        <p:spPr>
          <a:xfrm>
            <a:off x="617040" y="257004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point_24_own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Box 22"/>
          <p:cNvSpPr/>
          <p:nvPr/>
        </p:nvSpPr>
        <p:spPr>
          <a:xfrm>
            <a:off x="2297160" y="257004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Rectangle 23"/>
          <p:cNvSpPr/>
          <p:nvPr/>
        </p:nvSpPr>
        <p:spPr>
          <a:xfrm>
            <a:off x="537120" y="2819880"/>
            <a:ext cx="28389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TextBox 24"/>
          <p:cNvSpPr/>
          <p:nvPr/>
        </p:nvSpPr>
        <p:spPr>
          <a:xfrm>
            <a:off x="617040" y="285984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point_1_opp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25"/>
          <p:cNvSpPr/>
          <p:nvPr/>
        </p:nvSpPr>
        <p:spPr>
          <a:xfrm>
            <a:off x="2297160" y="285984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26"/>
          <p:cNvSpPr/>
          <p:nvPr/>
        </p:nvSpPr>
        <p:spPr>
          <a:xfrm>
            <a:off x="617040" y="315000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pip_count_self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27"/>
          <p:cNvSpPr/>
          <p:nvPr/>
        </p:nvSpPr>
        <p:spPr>
          <a:xfrm>
            <a:off x="2297160" y="315000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167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ectangle 28"/>
          <p:cNvSpPr/>
          <p:nvPr/>
        </p:nvSpPr>
        <p:spPr>
          <a:xfrm>
            <a:off x="537120" y="3399840"/>
            <a:ext cx="28389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29"/>
          <p:cNvSpPr/>
          <p:nvPr/>
        </p:nvSpPr>
        <p:spPr>
          <a:xfrm>
            <a:off x="617040" y="344016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pip_count_opp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30"/>
          <p:cNvSpPr/>
          <p:nvPr/>
        </p:nvSpPr>
        <p:spPr>
          <a:xfrm>
            <a:off x="2297160" y="344016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143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31"/>
          <p:cNvSpPr/>
          <p:nvPr/>
        </p:nvSpPr>
        <p:spPr>
          <a:xfrm>
            <a:off x="617040" y="372996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on_bar_self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Box 32"/>
          <p:cNvSpPr/>
          <p:nvPr/>
        </p:nvSpPr>
        <p:spPr>
          <a:xfrm>
            <a:off x="2297160" y="372996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 </a:t>
            </a: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angle 33"/>
          <p:cNvSpPr/>
          <p:nvPr/>
        </p:nvSpPr>
        <p:spPr>
          <a:xfrm>
            <a:off x="537120" y="3980160"/>
            <a:ext cx="28389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34"/>
          <p:cNvSpPr/>
          <p:nvPr/>
        </p:nvSpPr>
        <p:spPr>
          <a:xfrm>
            <a:off x="617040" y="4020120"/>
            <a:ext cx="1618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…  </a:t>
            </a: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(177 more)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35"/>
          <p:cNvSpPr/>
          <p:nvPr/>
        </p:nvSpPr>
        <p:spPr>
          <a:xfrm>
            <a:off x="2297160" y="4020120"/>
            <a:ext cx="102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00d4aa"/>
                </a:solidFill>
                <a:latin typeface="Arial"/>
              </a:rPr>
              <a:t> 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ectangle 36"/>
          <p:cNvSpPr/>
          <p:nvPr/>
        </p:nvSpPr>
        <p:spPr>
          <a:xfrm>
            <a:off x="557280" y="4320000"/>
            <a:ext cx="2799000" cy="358920"/>
          </a:xfrm>
          <a:prstGeom prst="rect">
            <a:avLst/>
          </a:prstGeom>
          <a:solidFill>
            <a:srgbClr val="1e1e3a"/>
          </a:solidFill>
          <a:ln w="19050">
            <a:solidFill>
              <a:srgbClr val="6c63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37"/>
          <p:cNvSpPr/>
          <p:nvPr/>
        </p:nvSpPr>
        <p:spPr>
          <a:xfrm>
            <a:off x="607320" y="4370040"/>
            <a:ext cx="269892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6c63ff"/>
                </a:solidFill>
                <a:latin typeface="Arial"/>
              </a:rPr>
              <a:t>Base case — overlay = 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Arial"/>
              </a:rPr>
              <a:t>All 20 bias values = 0.0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→ </a:t>
            </a: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pure gnubg equity, no personality.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Every new agent starts identical.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Box 38"/>
          <p:cNvSpPr/>
          <p:nvPr/>
        </p:nvSpPr>
        <p:spPr>
          <a:xfrm>
            <a:off x="3877200" y="1419840"/>
            <a:ext cx="2998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20-float per-agent style bias — stored on 0G Storage: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39"/>
          <p:cNvSpPr/>
          <p:nvPr/>
        </p:nvSpPr>
        <p:spPr>
          <a:xfrm>
            <a:off x="5977080" y="1654920"/>
            <a:ext cx="419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day 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40"/>
          <p:cNvSpPr/>
          <p:nvPr/>
        </p:nvSpPr>
        <p:spPr>
          <a:xfrm>
            <a:off x="6457320" y="1654920"/>
            <a:ext cx="419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800" spc="-1" strike="noStrike">
                <a:solidFill>
                  <a:srgbClr val="00d4aa"/>
                </a:solidFill>
                <a:latin typeface="Arial"/>
              </a:rPr>
              <a:t>50 games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Rectangle 41"/>
          <p:cNvSpPr/>
          <p:nvPr/>
        </p:nvSpPr>
        <p:spPr>
          <a:xfrm>
            <a:off x="3857040" y="1874880"/>
            <a:ext cx="30387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42"/>
          <p:cNvSpPr/>
          <p:nvPr/>
        </p:nvSpPr>
        <p:spPr>
          <a:xfrm>
            <a:off x="3937320" y="191484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opening_slot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Box 43"/>
          <p:cNvSpPr/>
          <p:nvPr/>
        </p:nvSpPr>
        <p:spPr>
          <a:xfrm>
            <a:off x="5977080" y="191484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44"/>
          <p:cNvSpPr/>
          <p:nvPr/>
        </p:nvSpPr>
        <p:spPr>
          <a:xfrm>
            <a:off x="6457320" y="191484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+0.42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45"/>
          <p:cNvSpPr/>
          <p:nvPr/>
        </p:nvSpPr>
        <p:spPr>
          <a:xfrm>
            <a:off x="3937320" y="220500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build_5_point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46"/>
          <p:cNvSpPr/>
          <p:nvPr/>
        </p:nvSpPr>
        <p:spPr>
          <a:xfrm>
            <a:off x="5977080" y="220500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47"/>
          <p:cNvSpPr/>
          <p:nvPr/>
        </p:nvSpPr>
        <p:spPr>
          <a:xfrm>
            <a:off x="6457320" y="220500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+0.31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ectangle 48"/>
          <p:cNvSpPr/>
          <p:nvPr/>
        </p:nvSpPr>
        <p:spPr>
          <a:xfrm>
            <a:off x="3857040" y="2454840"/>
            <a:ext cx="30387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49"/>
          <p:cNvSpPr/>
          <p:nvPr/>
        </p:nvSpPr>
        <p:spPr>
          <a:xfrm>
            <a:off x="3937320" y="249516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build_bar_point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50"/>
          <p:cNvSpPr/>
          <p:nvPr/>
        </p:nvSpPr>
        <p:spPr>
          <a:xfrm>
            <a:off x="5977080" y="249516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51"/>
          <p:cNvSpPr/>
          <p:nvPr/>
        </p:nvSpPr>
        <p:spPr>
          <a:xfrm>
            <a:off x="6457320" y="2495160"/>
            <a:ext cx="419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ff6b6b"/>
                </a:solidFill>
                <a:latin typeface="Arial"/>
              </a:rPr>
              <a:t>-0.05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Box 52"/>
          <p:cNvSpPr/>
          <p:nvPr/>
        </p:nvSpPr>
        <p:spPr>
          <a:xfrm>
            <a:off x="3937320" y="278496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bearoff_efficient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53"/>
          <p:cNvSpPr/>
          <p:nvPr/>
        </p:nvSpPr>
        <p:spPr>
          <a:xfrm>
            <a:off x="5977080" y="278496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54"/>
          <p:cNvSpPr/>
          <p:nvPr/>
        </p:nvSpPr>
        <p:spPr>
          <a:xfrm>
            <a:off x="6457320" y="278496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+0.18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Rectangle 55"/>
          <p:cNvSpPr/>
          <p:nvPr/>
        </p:nvSpPr>
        <p:spPr>
          <a:xfrm>
            <a:off x="3857040" y="3035160"/>
            <a:ext cx="30387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56"/>
          <p:cNvSpPr/>
          <p:nvPr/>
        </p:nvSpPr>
        <p:spPr>
          <a:xfrm>
            <a:off x="3937320" y="307512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risk_blot_leaving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Box 57"/>
          <p:cNvSpPr/>
          <p:nvPr/>
        </p:nvSpPr>
        <p:spPr>
          <a:xfrm>
            <a:off x="5977080" y="307512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58"/>
          <p:cNvSpPr/>
          <p:nvPr/>
        </p:nvSpPr>
        <p:spPr>
          <a:xfrm>
            <a:off x="6457320" y="3075120"/>
            <a:ext cx="419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ff6b6b"/>
                </a:solidFill>
                <a:latin typeface="Arial"/>
              </a:rPr>
              <a:t>-0.21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59"/>
          <p:cNvSpPr/>
          <p:nvPr/>
        </p:nvSpPr>
        <p:spPr>
          <a:xfrm>
            <a:off x="3937320" y="336492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hits_blot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Box 60"/>
          <p:cNvSpPr/>
          <p:nvPr/>
        </p:nvSpPr>
        <p:spPr>
          <a:xfrm>
            <a:off x="5977080" y="336492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Box 61"/>
          <p:cNvSpPr/>
          <p:nvPr/>
        </p:nvSpPr>
        <p:spPr>
          <a:xfrm>
            <a:off x="6457320" y="336492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+0.14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Rectangle 62"/>
          <p:cNvSpPr/>
          <p:nvPr/>
        </p:nvSpPr>
        <p:spPr>
          <a:xfrm>
            <a:off x="3857040" y="3615120"/>
            <a:ext cx="30387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63"/>
          <p:cNvSpPr/>
          <p:nvPr/>
        </p:nvSpPr>
        <p:spPr>
          <a:xfrm>
            <a:off x="3937320" y="365508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anchors_back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Box 64"/>
          <p:cNvSpPr/>
          <p:nvPr/>
        </p:nvSpPr>
        <p:spPr>
          <a:xfrm>
            <a:off x="5977080" y="365508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Box 65"/>
          <p:cNvSpPr/>
          <p:nvPr/>
        </p:nvSpPr>
        <p:spPr>
          <a:xfrm>
            <a:off x="6457320" y="365508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Box 66"/>
          <p:cNvSpPr/>
          <p:nvPr/>
        </p:nvSpPr>
        <p:spPr>
          <a:xfrm>
            <a:off x="3937320" y="394488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phase_prime_building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Box 67"/>
          <p:cNvSpPr/>
          <p:nvPr/>
        </p:nvSpPr>
        <p:spPr>
          <a:xfrm>
            <a:off x="5977080" y="394488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68"/>
          <p:cNvSpPr/>
          <p:nvPr/>
        </p:nvSpPr>
        <p:spPr>
          <a:xfrm>
            <a:off x="6457320" y="394488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51cf66"/>
                </a:solidFill>
                <a:latin typeface="Arial"/>
              </a:rPr>
              <a:t>+0.19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ectangle 69"/>
          <p:cNvSpPr/>
          <p:nvPr/>
        </p:nvSpPr>
        <p:spPr>
          <a:xfrm>
            <a:off x="3857040" y="4195080"/>
            <a:ext cx="3038760" cy="268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70"/>
          <p:cNvSpPr/>
          <p:nvPr/>
        </p:nvSpPr>
        <p:spPr>
          <a:xfrm>
            <a:off x="3937320" y="423504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phase_blitz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Box 71"/>
          <p:cNvSpPr/>
          <p:nvPr/>
        </p:nvSpPr>
        <p:spPr>
          <a:xfrm>
            <a:off x="5977080" y="4235040"/>
            <a:ext cx="419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0.00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Box 72"/>
          <p:cNvSpPr/>
          <p:nvPr/>
        </p:nvSpPr>
        <p:spPr>
          <a:xfrm>
            <a:off x="6457320" y="4235040"/>
            <a:ext cx="419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ff6b6b"/>
                </a:solidFill>
                <a:latin typeface="Arial"/>
              </a:rPr>
              <a:t>-0.08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Box 73"/>
          <p:cNvSpPr/>
          <p:nvPr/>
        </p:nvSpPr>
        <p:spPr>
          <a:xfrm>
            <a:off x="3937320" y="4524840"/>
            <a:ext cx="169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…  </a:t>
            </a: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(11 more)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Box 74"/>
          <p:cNvSpPr/>
          <p:nvPr/>
        </p:nvSpPr>
        <p:spPr>
          <a:xfrm>
            <a:off x="5977080" y="4524840"/>
            <a:ext cx="419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aaaabb"/>
                </a:solidFill>
                <a:latin typeface="Arial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75"/>
          <p:cNvSpPr/>
          <p:nvPr/>
        </p:nvSpPr>
        <p:spPr>
          <a:xfrm>
            <a:off x="6457320" y="4524840"/>
            <a:ext cx="419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aaaabb"/>
                </a:solidFill>
                <a:latin typeface="Arial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Rectangle 76"/>
          <p:cNvSpPr/>
          <p:nvPr/>
        </p:nvSpPr>
        <p:spPr>
          <a:xfrm>
            <a:off x="3877200" y="4820040"/>
            <a:ext cx="2998800" cy="398880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a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77"/>
          <p:cNvSpPr/>
          <p:nvPr/>
        </p:nvSpPr>
        <p:spPr>
          <a:xfrm>
            <a:off x="3927240" y="4865040"/>
            <a:ext cx="28990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00d4aa"/>
                </a:solidFill>
                <a:latin typeface="Arial"/>
              </a:rPr>
              <a:t>Post-match update rule: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</a:rPr>
              <a:t>Δ[c] = lr × outcome × exposure[c]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α = N / (N + matches)  →  early games learn faster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aaaabb"/>
                </a:solidFill>
                <a:latin typeface="Arial"/>
              </a:rPr>
              <a:t>new[c] = clip((1−α)·old + α·(old+Δ),  −1, +1)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Box 78"/>
          <p:cNvSpPr/>
          <p:nvPr/>
        </p:nvSpPr>
        <p:spPr>
          <a:xfrm>
            <a:off x="7397280" y="1419840"/>
            <a:ext cx="4233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gnubg evaluates N plies before picking a move: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Rectangle 79"/>
          <p:cNvSpPr/>
          <p:nvPr/>
        </p:nvSpPr>
        <p:spPr>
          <a:xfrm>
            <a:off x="7377120" y="1659960"/>
            <a:ext cx="4273560" cy="94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Rectangle 80"/>
          <p:cNvSpPr/>
          <p:nvPr/>
        </p:nvSpPr>
        <p:spPr>
          <a:xfrm>
            <a:off x="7447320" y="1710000"/>
            <a:ext cx="358920" cy="228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81"/>
          <p:cNvSpPr/>
          <p:nvPr/>
        </p:nvSpPr>
        <p:spPr>
          <a:xfrm>
            <a:off x="7447320" y="1710000"/>
            <a:ext cx="358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0-ply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82"/>
          <p:cNvSpPr/>
          <p:nvPr/>
        </p:nvSpPr>
        <p:spPr>
          <a:xfrm>
            <a:off x="7867080" y="1704960"/>
            <a:ext cx="376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Arial"/>
              </a:rPr>
              <a:t>Beginner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Box 83"/>
          <p:cNvSpPr/>
          <p:nvPr/>
        </p:nvSpPr>
        <p:spPr>
          <a:xfrm>
            <a:off x="7867080" y="1910160"/>
            <a:ext cx="3763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NN(board) → argmax. Single eval, no search.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Rectangle 84"/>
          <p:cNvSpPr/>
          <p:nvPr/>
        </p:nvSpPr>
        <p:spPr>
          <a:xfrm>
            <a:off x="7377120" y="2629440"/>
            <a:ext cx="4273560" cy="9486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85"/>
          <p:cNvSpPr/>
          <p:nvPr/>
        </p:nvSpPr>
        <p:spPr>
          <a:xfrm>
            <a:off x="7447320" y="2679480"/>
            <a:ext cx="358920" cy="228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86"/>
          <p:cNvSpPr/>
          <p:nvPr/>
        </p:nvSpPr>
        <p:spPr>
          <a:xfrm>
            <a:off x="7447320" y="2679480"/>
            <a:ext cx="358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1-ply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87"/>
          <p:cNvSpPr/>
          <p:nvPr/>
        </p:nvSpPr>
        <p:spPr>
          <a:xfrm>
            <a:off x="7867080" y="2674440"/>
            <a:ext cx="376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Arial"/>
              </a:rPr>
              <a:t>Casual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Box 88"/>
          <p:cNvSpPr/>
          <p:nvPr/>
        </p:nvSpPr>
        <p:spPr>
          <a:xfrm>
            <a:off x="7867080" y="2879640"/>
            <a:ext cx="3763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Try every legal move → NN(pos') → pick best.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ectangle 89"/>
          <p:cNvSpPr/>
          <p:nvPr/>
        </p:nvSpPr>
        <p:spPr>
          <a:xfrm>
            <a:off x="7377120" y="3599280"/>
            <a:ext cx="4273560" cy="94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90"/>
          <p:cNvSpPr/>
          <p:nvPr/>
        </p:nvSpPr>
        <p:spPr>
          <a:xfrm>
            <a:off x="7447320" y="3649320"/>
            <a:ext cx="358920" cy="228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91"/>
          <p:cNvSpPr/>
          <p:nvPr/>
        </p:nvSpPr>
        <p:spPr>
          <a:xfrm>
            <a:off x="7447320" y="3649320"/>
            <a:ext cx="358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2-ply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Box 92"/>
          <p:cNvSpPr/>
          <p:nvPr/>
        </p:nvSpPr>
        <p:spPr>
          <a:xfrm>
            <a:off x="7867080" y="3644280"/>
            <a:ext cx="376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Arial"/>
              </a:rPr>
              <a:t>Intermediate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Box 93"/>
          <p:cNvSpPr/>
          <p:nvPr/>
        </p:nvSpPr>
        <p:spPr>
          <a:xfrm>
            <a:off x="7867080" y="3849120"/>
            <a:ext cx="3763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Each move + opponent's best reply → NN(pos'') → pick best.  ~25× slower than 0-ply.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Rectangle 94"/>
          <p:cNvSpPr/>
          <p:nvPr/>
        </p:nvSpPr>
        <p:spPr>
          <a:xfrm>
            <a:off x="7377120" y="4568760"/>
            <a:ext cx="4273560" cy="9486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Rectangle 95"/>
          <p:cNvSpPr/>
          <p:nvPr/>
        </p:nvSpPr>
        <p:spPr>
          <a:xfrm>
            <a:off x="7447320" y="4618800"/>
            <a:ext cx="358920" cy="228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96"/>
          <p:cNvSpPr/>
          <p:nvPr/>
        </p:nvSpPr>
        <p:spPr>
          <a:xfrm>
            <a:off x="7447320" y="4618800"/>
            <a:ext cx="358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3-ply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Box 97"/>
          <p:cNvSpPr/>
          <p:nvPr/>
        </p:nvSpPr>
        <p:spPr>
          <a:xfrm>
            <a:off x="7867080" y="4613760"/>
            <a:ext cx="376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Arial"/>
              </a:rPr>
              <a:t>Advanced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Box 98"/>
          <p:cNvSpPr/>
          <p:nvPr/>
        </p:nvSpPr>
        <p:spPr>
          <a:xfrm>
            <a:off x="7867080" y="4818960"/>
            <a:ext cx="3763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Two full plies + extra NN pass.  Equivalent to a strong club player.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ectangle 99"/>
          <p:cNvSpPr/>
          <p:nvPr/>
        </p:nvSpPr>
        <p:spPr>
          <a:xfrm>
            <a:off x="7377120" y="5538240"/>
            <a:ext cx="4273560" cy="94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ectangle 100"/>
          <p:cNvSpPr/>
          <p:nvPr/>
        </p:nvSpPr>
        <p:spPr>
          <a:xfrm>
            <a:off x="7447320" y="5588280"/>
            <a:ext cx="358920" cy="228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01"/>
          <p:cNvSpPr/>
          <p:nvPr/>
        </p:nvSpPr>
        <p:spPr>
          <a:xfrm>
            <a:off x="7447320" y="5588280"/>
            <a:ext cx="358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rollout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102"/>
          <p:cNvSpPr/>
          <p:nvPr/>
        </p:nvSpPr>
        <p:spPr>
          <a:xfrm>
            <a:off x="7867080" y="5583240"/>
            <a:ext cx="376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Arial"/>
              </a:rPr>
              <a:t>World-class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103"/>
          <p:cNvSpPr/>
          <p:nvPr/>
        </p:nvSpPr>
        <p:spPr>
          <a:xfrm>
            <a:off x="7867080" y="5788440"/>
            <a:ext cx="3763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aaabb"/>
                </a:solidFill>
                <a:latin typeface="Arial"/>
              </a:rPr>
              <a:t>Monte Carlo: simulate N random-dice games from each candidate, average outcomes.  Most accurate, very slow.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Rectangle 104"/>
          <p:cNvSpPr/>
          <p:nvPr/>
        </p:nvSpPr>
        <p:spPr>
          <a:xfrm>
            <a:off x="0" y="6608160"/>
            <a:ext cx="12187800" cy="2188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105"/>
          <p:cNvSpPr/>
          <p:nvPr/>
        </p:nvSpPr>
        <p:spPr>
          <a:xfrm>
            <a:off x="457200" y="6648120"/>
            <a:ext cx="11273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score(move)  =  gnubg_equity(board_after_move)  +  Σc [ overlay[c] × category_match(move, c) ]     →   argmax selects the move played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ELO RATINGS &amp; PREDICTION MARKETS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3"/>
          <p:cNvSpPr/>
          <p:nvPr/>
        </p:nvSpPr>
        <p:spPr>
          <a:xfrm>
            <a:off x="548640" y="777240"/>
            <a:ext cx="10971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A transparent, on-chain skill ledger — and a betting primitive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4"/>
          <p:cNvSpPr/>
          <p:nvPr/>
        </p:nvSpPr>
        <p:spPr>
          <a:xfrm>
            <a:off x="457200" y="1554480"/>
            <a:ext cx="530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0d4aa"/>
                </a:solidFill>
                <a:latin typeface="Calibri"/>
              </a:rPr>
              <a:t>How ELO works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Rectangle 5"/>
          <p:cNvSpPr/>
          <p:nvPr/>
        </p:nvSpPr>
        <p:spPr>
          <a:xfrm>
            <a:off x="457200" y="2057400"/>
            <a:ext cx="5393520" cy="1553040"/>
          </a:xfrm>
          <a:prstGeom prst="rect">
            <a:avLst/>
          </a:prstGeom>
          <a:solidFill>
            <a:srgbClr val="141228"/>
          </a:solidFill>
          <a:ln w="15240">
            <a:solidFill>
              <a:srgbClr val="00d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6"/>
          <p:cNvSpPr/>
          <p:nvPr/>
        </p:nvSpPr>
        <p:spPr>
          <a:xfrm>
            <a:off x="594360" y="2148840"/>
            <a:ext cx="5119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d4aa"/>
                </a:solidFill>
                <a:latin typeface="Calibri"/>
              </a:rPr>
              <a:t>Eₐ = 1 / (1 + 10^((R_B − R_A) / 400))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7"/>
          <p:cNvSpPr/>
          <p:nvPr/>
        </p:nvSpPr>
        <p:spPr>
          <a:xfrm>
            <a:off x="594360" y="2606040"/>
            <a:ext cx="5119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R_new = R_old + K × (score − Eₐ)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Box 8"/>
          <p:cNvSpPr/>
          <p:nvPr/>
        </p:nvSpPr>
        <p:spPr>
          <a:xfrm>
            <a:off x="594360" y="3017520"/>
            <a:ext cx="5119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K = 32 (rating change cap)   •   Starting rating = 1500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9"/>
          <p:cNvSpPr/>
          <p:nvPr/>
        </p:nvSpPr>
        <p:spPr>
          <a:xfrm>
            <a:off x="457200" y="374904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c63ff"/>
                </a:solidFill>
                <a:latin typeface="Calibri"/>
              </a:rPr>
              <a:t>Rating gap  →  win probability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Rectangle 10"/>
          <p:cNvSpPr/>
          <p:nvPr/>
        </p:nvSpPr>
        <p:spPr>
          <a:xfrm>
            <a:off x="457200" y="4160520"/>
            <a:ext cx="5393520" cy="39168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11"/>
          <p:cNvSpPr/>
          <p:nvPr/>
        </p:nvSpPr>
        <p:spPr>
          <a:xfrm>
            <a:off x="594360" y="4197240"/>
            <a:ext cx="3198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Δ0  (equal)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Box 12"/>
          <p:cNvSpPr/>
          <p:nvPr/>
        </p:nvSpPr>
        <p:spPr>
          <a:xfrm>
            <a:off x="4114800" y="4197240"/>
            <a:ext cx="1461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c84b"/>
                </a:solidFill>
                <a:latin typeface="Calibri"/>
              </a:rPr>
              <a:t>50%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Rectangle 13"/>
          <p:cNvSpPr/>
          <p:nvPr/>
        </p:nvSpPr>
        <p:spPr>
          <a:xfrm>
            <a:off x="457200" y="4599360"/>
            <a:ext cx="5393520" cy="39168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14"/>
          <p:cNvSpPr/>
          <p:nvPr/>
        </p:nvSpPr>
        <p:spPr>
          <a:xfrm>
            <a:off x="594360" y="4636080"/>
            <a:ext cx="3198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Δ100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5"/>
          <p:cNvSpPr/>
          <p:nvPr/>
        </p:nvSpPr>
        <p:spPr>
          <a:xfrm>
            <a:off x="4114800" y="4636080"/>
            <a:ext cx="1461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c84b"/>
                </a:solidFill>
                <a:latin typeface="Calibri"/>
              </a:rPr>
              <a:t>64%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ectangle 16"/>
          <p:cNvSpPr/>
          <p:nvPr/>
        </p:nvSpPr>
        <p:spPr>
          <a:xfrm>
            <a:off x="457200" y="5038200"/>
            <a:ext cx="5393520" cy="39168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17"/>
          <p:cNvSpPr/>
          <p:nvPr/>
        </p:nvSpPr>
        <p:spPr>
          <a:xfrm>
            <a:off x="594360" y="5074920"/>
            <a:ext cx="3198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Δ200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18"/>
          <p:cNvSpPr/>
          <p:nvPr/>
        </p:nvSpPr>
        <p:spPr>
          <a:xfrm>
            <a:off x="4114800" y="5074920"/>
            <a:ext cx="1461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c84b"/>
                </a:solidFill>
                <a:latin typeface="Calibri"/>
              </a:rPr>
              <a:t>76%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Rectangle 19"/>
          <p:cNvSpPr/>
          <p:nvPr/>
        </p:nvSpPr>
        <p:spPr>
          <a:xfrm>
            <a:off x="457200" y="5477400"/>
            <a:ext cx="5393520" cy="39168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20"/>
          <p:cNvSpPr/>
          <p:nvPr/>
        </p:nvSpPr>
        <p:spPr>
          <a:xfrm>
            <a:off x="594360" y="5513760"/>
            <a:ext cx="3198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Δ400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1"/>
          <p:cNvSpPr/>
          <p:nvPr/>
        </p:nvSpPr>
        <p:spPr>
          <a:xfrm>
            <a:off x="4114800" y="5513760"/>
            <a:ext cx="1461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c84b"/>
                </a:solidFill>
                <a:latin typeface="Calibri"/>
              </a:rPr>
              <a:t>91%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2"/>
          <p:cNvSpPr/>
          <p:nvPr/>
        </p:nvSpPr>
        <p:spPr>
          <a:xfrm>
            <a:off x="457200" y="6080760"/>
            <a:ext cx="539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aaabb"/>
                </a:solidFill>
                <a:latin typeface="Calibri"/>
              </a:rPr>
              <a:t>Chaingammon uses fixed-point integer ELO via EloMath.sol — no floats on-chain.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3"/>
          <p:cNvSpPr/>
          <p:nvPr/>
        </p:nvSpPr>
        <p:spPr>
          <a:xfrm>
            <a:off x="6400800" y="1554480"/>
            <a:ext cx="530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c84b"/>
                </a:solidFill>
                <a:latin typeface="Calibri"/>
              </a:rPr>
              <a:t>Betting on players &amp; agents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Rectangle 24"/>
          <p:cNvSpPr/>
          <p:nvPr/>
        </p:nvSpPr>
        <p:spPr>
          <a:xfrm>
            <a:off x="6400800" y="205740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25"/>
          <p:cNvSpPr/>
          <p:nvPr/>
        </p:nvSpPr>
        <p:spPr>
          <a:xfrm>
            <a:off x="6537960" y="2084760"/>
            <a:ext cx="511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Match odds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Box 26"/>
          <p:cNvSpPr/>
          <p:nvPr/>
        </p:nvSpPr>
        <p:spPr>
          <a:xfrm>
            <a:off x="6537960" y="2423160"/>
            <a:ext cx="5119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Derive fair odds directly from the ELO win-probability formula. A 200-point gap gives 76 / 24 fair odds — any market price away from that is +EV.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Rectangle 27"/>
          <p:cNvSpPr/>
          <p:nvPr/>
        </p:nvSpPr>
        <p:spPr>
          <a:xfrm>
            <a:off x="6400800" y="2962800"/>
            <a:ext cx="5393520" cy="8031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28"/>
          <p:cNvSpPr/>
          <p:nvPr/>
        </p:nvSpPr>
        <p:spPr>
          <a:xfrm>
            <a:off x="6537960" y="2990160"/>
            <a:ext cx="511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ELO movement markets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29"/>
          <p:cNvSpPr/>
          <p:nvPr/>
        </p:nvSpPr>
        <p:spPr>
          <a:xfrm>
            <a:off x="6537960" y="3328560"/>
            <a:ext cx="5119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Bet whether a player gains or loses N ELO over the next M games. Think prediction markets on skill trajectory.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30"/>
          <p:cNvSpPr/>
          <p:nvPr/>
        </p:nvSpPr>
        <p:spPr>
          <a:xfrm>
            <a:off x="6400800" y="386784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31"/>
          <p:cNvSpPr/>
          <p:nvPr/>
        </p:nvSpPr>
        <p:spPr>
          <a:xfrm>
            <a:off x="6537960" y="3895200"/>
            <a:ext cx="511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Equity-curve exposure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Box 32"/>
          <p:cNvSpPr/>
          <p:nvPr/>
        </p:nvSpPr>
        <p:spPr>
          <a:xfrm>
            <a:off x="6537960" y="4233600"/>
            <a:ext cx="5119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Buy a share of an agent’s future ELO gains. Agents with long on-chain histories show clean cumulative curves — verifiable Sharpe for a bot.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Rectangle 33"/>
          <p:cNvSpPr/>
          <p:nvPr/>
        </p:nvSpPr>
        <p:spPr>
          <a:xfrm>
            <a:off x="6400800" y="4773240"/>
            <a:ext cx="5393520" cy="803160"/>
          </a:xfrm>
          <a:prstGeom prst="rect">
            <a:avLst/>
          </a:prstGeom>
          <a:solidFill>
            <a:srgbClr val="110f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TextBox 34"/>
          <p:cNvSpPr/>
          <p:nvPr/>
        </p:nvSpPr>
        <p:spPr>
          <a:xfrm>
            <a:off x="6537960" y="4800600"/>
            <a:ext cx="511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Kelly sizing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Box 35"/>
          <p:cNvSpPr/>
          <p:nvPr/>
        </p:nvSpPr>
        <p:spPr>
          <a:xfrm>
            <a:off x="6537960" y="5139000"/>
            <a:ext cx="5119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Optimal bet% = edge / odds. With ELO-implied probability and on-chain match history, the edge estimate is transparent, not operator-controlled.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Rectangle 36"/>
          <p:cNvSpPr/>
          <p:nvPr/>
        </p:nvSpPr>
        <p:spPr>
          <a:xfrm>
            <a:off x="6400800" y="5678280"/>
            <a:ext cx="5393520" cy="803160"/>
          </a:xfrm>
          <a:prstGeom prst="rect">
            <a:avLst/>
          </a:prstGeom>
          <a:solidFill>
            <a:srgbClr val="1412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37"/>
          <p:cNvSpPr/>
          <p:nvPr/>
        </p:nvSpPr>
        <p:spPr>
          <a:xfrm>
            <a:off x="6537960" y="5706000"/>
            <a:ext cx="5119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c84b"/>
                </a:solidFill>
                <a:latin typeface="Calibri"/>
              </a:rPr>
              <a:t>Agent performance futures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38"/>
          <p:cNvSpPr/>
          <p:nvPr/>
        </p:nvSpPr>
        <p:spPr>
          <a:xfrm>
            <a:off x="6537960" y="6044040"/>
            <a:ext cx="5119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aaabb"/>
                </a:solidFill>
                <a:latin typeface="Calibri"/>
              </a:rPr>
              <a:t>Will an agent reach Tier 3 ELO within 100 matches? All inputs—match count, overlay hash—are public on 0G Chain.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Box 39"/>
          <p:cNvSpPr/>
          <p:nvPr/>
        </p:nvSpPr>
        <p:spPr>
          <a:xfrm>
            <a:off x="6400800" y="6492240"/>
            <a:ext cx="5393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00d4aa"/>
                </a:solidFill>
                <a:latin typeface="Calibri"/>
              </a:rPr>
              <a:t>Every match, ELO delta, and overlay update is recorded on 0G Chain — no trust required.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SMART CONTRACTS ON 0G CHAIN  (chainId 16602)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3"/>
          <p:cNvSpPr/>
          <p:nvPr/>
        </p:nvSpPr>
        <p:spPr>
          <a:xfrm>
            <a:off x="548640" y="777240"/>
            <a:ext cx="10971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Four contracts — deployed and verified on chainscan-galileo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ectangle 4"/>
          <p:cNvSpPr/>
          <p:nvPr/>
        </p:nvSpPr>
        <p:spPr>
          <a:xfrm>
            <a:off x="457200" y="164592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Rectangle 5"/>
          <p:cNvSpPr/>
          <p:nvPr/>
        </p:nvSpPr>
        <p:spPr>
          <a:xfrm>
            <a:off x="457200" y="1645920"/>
            <a:ext cx="5576400" cy="3186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6"/>
          <p:cNvSpPr/>
          <p:nvPr/>
        </p:nvSpPr>
        <p:spPr>
          <a:xfrm>
            <a:off x="567000" y="1993320"/>
            <a:ext cx="530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EloMath.sol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7"/>
          <p:cNvSpPr/>
          <p:nvPr/>
        </p:nvSpPr>
        <p:spPr>
          <a:xfrm>
            <a:off x="567000" y="2423160"/>
            <a:ext cx="5302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Pure library. K=32, INITIAL=1500 ELO.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Fixed-point integer math — no floats on-chain.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Expected-score lookup table, floor at 0.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ectangle 8"/>
          <p:cNvSpPr/>
          <p:nvPr/>
        </p:nvSpPr>
        <p:spPr>
          <a:xfrm>
            <a:off x="6309360" y="164592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Rectangle 9"/>
          <p:cNvSpPr/>
          <p:nvPr/>
        </p:nvSpPr>
        <p:spPr>
          <a:xfrm>
            <a:off x="6309360" y="1645920"/>
            <a:ext cx="5576400" cy="31860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10"/>
          <p:cNvSpPr/>
          <p:nvPr/>
        </p:nvSpPr>
        <p:spPr>
          <a:xfrm>
            <a:off x="6419160" y="1993320"/>
            <a:ext cx="530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MatchRegistry.sol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11"/>
          <p:cNvSpPr/>
          <p:nvPr/>
        </p:nvSpPr>
        <p:spPr>
          <a:xfrm>
            <a:off x="6419160" y="2423160"/>
            <a:ext cx="5302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Owner-only recordMatch(winner, loser, matchLength, gameRecordHash).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Stores MatchInfo struct with on-chain ↔ 0G Storage link.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Emits MatchRecorded, EloUpdated, GameRecordStored events.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Rectangle 12"/>
          <p:cNvSpPr/>
          <p:nvPr/>
        </p:nvSpPr>
        <p:spPr>
          <a:xfrm>
            <a:off x="457200" y="402336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Rectangle 13"/>
          <p:cNvSpPr/>
          <p:nvPr/>
        </p:nvSpPr>
        <p:spPr>
          <a:xfrm>
            <a:off x="457200" y="4023360"/>
            <a:ext cx="5576400" cy="31860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TextBox 14"/>
          <p:cNvSpPr/>
          <p:nvPr/>
        </p:nvSpPr>
        <p:spPr>
          <a:xfrm>
            <a:off x="567000" y="4370760"/>
            <a:ext cx="530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AgentRegistry.sol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Box 15"/>
          <p:cNvSpPr/>
          <p:nvPr/>
        </p:nvSpPr>
        <p:spPr>
          <a:xfrm>
            <a:off x="567000" y="4800600"/>
            <a:ext cx="5302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ERC-721 base + ERC-7857-compatible shape.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mintAgent(to, metadataURI, tier)  ·  setBaseWeightsHash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updateOverlayHash — bumps matchCount + experienceVersion.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Rectangle 16"/>
          <p:cNvSpPr/>
          <p:nvPr/>
        </p:nvSpPr>
        <p:spPr>
          <a:xfrm>
            <a:off x="6309360" y="4023360"/>
            <a:ext cx="5576400" cy="2101680"/>
          </a:xfrm>
          <a:prstGeom prst="rect">
            <a:avLst/>
          </a:prstGeom>
          <a:solidFill>
            <a:srgbClr val="141228"/>
          </a:solidFill>
          <a:ln w="19050">
            <a:solidFill>
              <a:srgbClr val="ff707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Rectangle 17"/>
          <p:cNvSpPr/>
          <p:nvPr/>
        </p:nvSpPr>
        <p:spPr>
          <a:xfrm>
            <a:off x="6309360" y="4023360"/>
            <a:ext cx="5576400" cy="318600"/>
          </a:xfrm>
          <a:prstGeom prst="rect">
            <a:avLst/>
          </a:prstGeom>
          <a:solidFill>
            <a:srgbClr val="ff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18"/>
          <p:cNvSpPr/>
          <p:nvPr/>
        </p:nvSpPr>
        <p:spPr>
          <a:xfrm>
            <a:off x="6419160" y="4370760"/>
            <a:ext cx="5302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PlayerSubnameRegistrar.sol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Box 19"/>
          <p:cNvSpPr/>
          <p:nvPr/>
        </p:nvSpPr>
        <p:spPr>
          <a:xfrm>
            <a:off x="6419160" y="4800600"/>
            <a:ext cx="5302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Issues &lt;name&gt;.chaingammon.eth ENS subnames.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Server-only write access in v1.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Controls text records: elo, match_count, style_uri, archive_uri.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0G STORAGE — FOUR USES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3"/>
          <p:cNvSpPr/>
          <p:nvPr/>
        </p:nvSpPr>
        <p:spPr>
          <a:xfrm>
            <a:off x="548640" y="77724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Decentralised, content-addressed, permanent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ectangle 4"/>
          <p:cNvSpPr/>
          <p:nvPr/>
        </p:nvSpPr>
        <p:spPr>
          <a:xfrm>
            <a:off x="274320" y="1600200"/>
            <a:ext cx="163080" cy="7758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5"/>
          <p:cNvSpPr/>
          <p:nvPr/>
        </p:nvSpPr>
        <p:spPr>
          <a:xfrm>
            <a:off x="548640" y="1618560"/>
            <a:ext cx="1827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Log — per match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Box 6"/>
          <p:cNvSpPr/>
          <p:nvPr/>
        </p:nvSpPr>
        <p:spPr>
          <a:xfrm>
            <a:off x="2468880" y="1618560"/>
            <a:ext cx="228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Game record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7"/>
          <p:cNvSpPr/>
          <p:nvPr/>
        </p:nvSpPr>
        <p:spPr>
          <a:xfrm>
            <a:off x="4937760" y="1618560"/>
            <a:ext cx="685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GameRecord JSON: every move, dice, cube action, gnubg position IDs. ~2–10 KB. rootHash committed in MatchRegistry on-chain.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ectangle 8"/>
          <p:cNvSpPr/>
          <p:nvPr/>
        </p:nvSpPr>
        <p:spPr>
          <a:xfrm>
            <a:off x="274320" y="2395800"/>
            <a:ext cx="11611440" cy="5040"/>
          </a:xfrm>
          <a:prstGeom prst="rect">
            <a:avLst/>
          </a:prstGeom>
          <a:solidFill>
            <a:srgbClr val="1c1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Rectangle 9"/>
          <p:cNvSpPr/>
          <p:nvPr/>
        </p:nvSpPr>
        <p:spPr>
          <a:xfrm>
            <a:off x="274320" y="2560320"/>
            <a:ext cx="163080" cy="77580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10"/>
          <p:cNvSpPr/>
          <p:nvPr/>
        </p:nvSpPr>
        <p:spPr>
          <a:xfrm>
            <a:off x="548640" y="2578680"/>
            <a:ext cx="1827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d4aa"/>
                </a:solidFill>
                <a:latin typeface="Calibri"/>
              </a:rPr>
              <a:t>Log — per match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1"/>
          <p:cNvSpPr/>
          <p:nvPr/>
        </p:nvSpPr>
        <p:spPr>
          <a:xfrm>
            <a:off x="2468880" y="2578680"/>
            <a:ext cx="228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KeeperHub audit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Box 12"/>
          <p:cNvSpPr/>
          <p:nvPr/>
        </p:nvSpPr>
        <p:spPr>
          <a:xfrm>
            <a:off x="4937760" y="2578680"/>
            <a:ext cx="685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Settlement workflow trace: timestamps, retries, gas, step results. Mirrored so it's publicly viewable without KeeperHub login.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Rectangle 13"/>
          <p:cNvSpPr/>
          <p:nvPr/>
        </p:nvSpPr>
        <p:spPr>
          <a:xfrm>
            <a:off x="274320" y="3355920"/>
            <a:ext cx="11611440" cy="5040"/>
          </a:xfrm>
          <a:prstGeom prst="rect">
            <a:avLst/>
          </a:prstGeom>
          <a:solidFill>
            <a:srgbClr val="1c1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Rectangle 14"/>
          <p:cNvSpPr/>
          <p:nvPr/>
        </p:nvSpPr>
        <p:spPr>
          <a:xfrm>
            <a:off x="274320" y="3520440"/>
            <a:ext cx="163080" cy="77580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TextBox 15"/>
          <p:cNvSpPr/>
          <p:nvPr/>
        </p:nvSpPr>
        <p:spPr>
          <a:xfrm>
            <a:off x="548640" y="3538800"/>
            <a:ext cx="1827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c84b"/>
                </a:solidFill>
                <a:latin typeface="Calibri"/>
              </a:rPr>
              <a:t>KV — per player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Box 16"/>
          <p:cNvSpPr/>
          <p:nvPr/>
        </p:nvSpPr>
        <p:spPr>
          <a:xfrm>
            <a:off x="2468880" y="3538800"/>
            <a:ext cx="228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Style profile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Box 17"/>
          <p:cNvSpPr/>
          <p:nvPr/>
        </p:nvSpPr>
        <p:spPr>
          <a:xfrm>
            <a:off x="4937760" y="3538800"/>
            <a:ext cx="685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Descriptive stats only: % opening style, cube tendency, win rate vs each tier. Displayed on the player profile page.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Rectangle 18"/>
          <p:cNvSpPr/>
          <p:nvPr/>
        </p:nvSpPr>
        <p:spPr>
          <a:xfrm>
            <a:off x="274320" y="4316040"/>
            <a:ext cx="11611440" cy="5040"/>
          </a:xfrm>
          <a:prstGeom prst="rect">
            <a:avLst/>
          </a:prstGeom>
          <a:solidFill>
            <a:srgbClr val="1c1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Rectangle 19"/>
          <p:cNvSpPr/>
          <p:nvPr/>
        </p:nvSpPr>
        <p:spPr>
          <a:xfrm>
            <a:off x="274320" y="4480560"/>
            <a:ext cx="163080" cy="775800"/>
          </a:xfrm>
          <a:prstGeom prst="rect">
            <a:avLst/>
          </a:prstGeom>
          <a:solidFill>
            <a:srgbClr val="ff70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20"/>
          <p:cNvSpPr/>
          <p:nvPr/>
        </p:nvSpPr>
        <p:spPr>
          <a:xfrm>
            <a:off x="548640" y="4498920"/>
            <a:ext cx="1827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7070"/>
                </a:solidFill>
                <a:latin typeface="Calibri"/>
              </a:rPr>
              <a:t>Blob — shared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21"/>
          <p:cNvSpPr/>
          <p:nvPr/>
        </p:nvSpPr>
        <p:spPr>
          <a:xfrm>
            <a:off x="2468880" y="4498920"/>
            <a:ext cx="228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gnubg base weights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22"/>
          <p:cNvSpPr/>
          <p:nvPr/>
        </p:nvSpPr>
        <p:spPr>
          <a:xfrm>
            <a:off x="4937760" y="4498920"/>
            <a:ext cx="685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Encrypted (AES-256-GCM). ~408 KB. One blob for all agents. rootHash is dataHashes[0] on every iNFT. Key held server-side in v1.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Rectangle 23"/>
          <p:cNvSpPr/>
          <p:nvPr/>
        </p:nvSpPr>
        <p:spPr>
          <a:xfrm>
            <a:off x="274320" y="5276160"/>
            <a:ext cx="11611440" cy="5040"/>
          </a:xfrm>
          <a:prstGeom prst="rect">
            <a:avLst/>
          </a:prstGeom>
          <a:solidFill>
            <a:srgbClr val="1c1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Rectangle 24"/>
          <p:cNvSpPr/>
          <p:nvPr/>
        </p:nvSpPr>
        <p:spPr>
          <a:xfrm>
            <a:off x="274320" y="5440680"/>
            <a:ext cx="163080" cy="775800"/>
          </a:xfrm>
          <a:prstGeom prst="rect">
            <a:avLst/>
          </a:prstGeom>
          <a:solidFill>
            <a:srgbClr val="c08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TextBox 25"/>
          <p:cNvSpPr/>
          <p:nvPr/>
        </p:nvSpPr>
        <p:spPr>
          <a:xfrm>
            <a:off x="548640" y="5459040"/>
            <a:ext cx="1827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80ff"/>
                </a:solidFill>
                <a:latin typeface="Calibri"/>
              </a:rPr>
              <a:t>Blob — per agent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26"/>
          <p:cNvSpPr/>
          <p:nvPr/>
        </p:nvSpPr>
        <p:spPr>
          <a:xfrm>
            <a:off x="2468880" y="5459040"/>
            <a:ext cx="228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Experience overlay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Box 27"/>
          <p:cNvSpPr/>
          <p:nvPr/>
        </p:nvSpPr>
        <p:spPr>
          <a:xfrm>
            <a:off x="4937760" y="5459040"/>
            <a:ext cx="6856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~20-float preference vector. Updates after every match. rootHash is dataHashes[1] on the iNFT. Grows with play.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ectangle 28"/>
          <p:cNvSpPr/>
          <p:nvPr/>
        </p:nvSpPr>
        <p:spPr>
          <a:xfrm>
            <a:off x="274320" y="6236280"/>
            <a:ext cx="11611440" cy="5040"/>
          </a:xfrm>
          <a:prstGeom prst="rect">
            <a:avLst/>
          </a:prstGeom>
          <a:solidFill>
            <a:srgbClr val="1c1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KEEPERHUB — SETTLEMENT WORKFLOW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Box 3"/>
          <p:cNvSpPr/>
          <p:nvPr/>
        </p:nvSpPr>
        <p:spPr>
          <a:xfrm>
            <a:off x="548640" y="777240"/>
            <a:ext cx="109713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Multi-step orchestration with retry, gas optimization, and audit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Rectangle 4"/>
          <p:cNvSpPr/>
          <p:nvPr/>
        </p:nvSpPr>
        <p:spPr>
          <a:xfrm>
            <a:off x="457200" y="1737360"/>
            <a:ext cx="2741760" cy="393048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Rectangle 5"/>
          <p:cNvSpPr/>
          <p:nvPr/>
        </p:nvSpPr>
        <p:spPr>
          <a:xfrm>
            <a:off x="457200" y="1737360"/>
            <a:ext cx="2741760" cy="3186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TextBox 6"/>
          <p:cNvSpPr/>
          <p:nvPr/>
        </p:nvSpPr>
        <p:spPr>
          <a:xfrm>
            <a:off x="567000" y="210312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c63ff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7"/>
          <p:cNvSpPr/>
          <p:nvPr/>
        </p:nvSpPr>
        <p:spPr>
          <a:xfrm>
            <a:off x="567000" y="2487240"/>
            <a:ext cx="2467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recordMatch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8"/>
          <p:cNvSpPr/>
          <p:nvPr/>
        </p:nvSpPr>
        <p:spPr>
          <a:xfrm>
            <a:off x="567000" y="2971800"/>
            <a:ext cx="25588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MatchRegistry.recordMatch(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winner, loser, matchLength,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gameRecordHash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Returns matchId; ELO updated on-chain.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Box 9"/>
          <p:cNvSpPr/>
          <p:nvPr/>
        </p:nvSpPr>
        <p:spPr>
          <a:xfrm>
            <a:off x="3218760" y="3474720"/>
            <a:ext cx="272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Rectangle 10"/>
          <p:cNvSpPr/>
          <p:nvPr/>
        </p:nvSpPr>
        <p:spPr>
          <a:xfrm>
            <a:off x="3383280" y="1737360"/>
            <a:ext cx="2741760" cy="393048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Rectangle 11"/>
          <p:cNvSpPr/>
          <p:nvPr/>
        </p:nvSpPr>
        <p:spPr>
          <a:xfrm>
            <a:off x="3383280" y="1737360"/>
            <a:ext cx="2741760" cy="31860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9" name="TextBox 12"/>
          <p:cNvSpPr/>
          <p:nvPr/>
        </p:nvSpPr>
        <p:spPr>
          <a:xfrm>
            <a:off x="3493080" y="210312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d4aa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Box 13"/>
          <p:cNvSpPr/>
          <p:nvPr/>
        </p:nvSpPr>
        <p:spPr>
          <a:xfrm>
            <a:off x="3493080" y="2487240"/>
            <a:ext cx="2467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ENS update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14"/>
          <p:cNvSpPr/>
          <p:nvPr/>
        </p:nvSpPr>
        <p:spPr>
          <a:xfrm>
            <a:off x="3493080" y="2971800"/>
            <a:ext cx="2558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setText(alice.chaingammon.eth,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elo, match_count,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last_match_id, archive_uri)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for both players.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Box 15"/>
          <p:cNvSpPr/>
          <p:nvPr/>
        </p:nvSpPr>
        <p:spPr>
          <a:xfrm>
            <a:off x="6144840" y="3474720"/>
            <a:ext cx="272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Rectangle 16"/>
          <p:cNvSpPr/>
          <p:nvPr/>
        </p:nvSpPr>
        <p:spPr>
          <a:xfrm>
            <a:off x="6309360" y="1737360"/>
            <a:ext cx="2741760" cy="393048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Rectangle 17"/>
          <p:cNvSpPr/>
          <p:nvPr/>
        </p:nvSpPr>
        <p:spPr>
          <a:xfrm>
            <a:off x="6309360" y="1737360"/>
            <a:ext cx="2741760" cy="318600"/>
          </a:xfrm>
          <a:prstGeom prst="rect">
            <a:avLst/>
          </a:prstGeom>
          <a:solidFill>
            <a:srgbClr val="ffc8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TextBox 18"/>
          <p:cNvSpPr/>
          <p:nvPr/>
        </p:nvSpPr>
        <p:spPr>
          <a:xfrm>
            <a:off x="6419160" y="210312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c84b"/>
                </a:solidFill>
                <a:latin typeface="Calibri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19"/>
          <p:cNvSpPr/>
          <p:nvPr/>
        </p:nvSpPr>
        <p:spPr>
          <a:xfrm>
            <a:off x="6419160" y="2487240"/>
            <a:ext cx="2467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Overlay update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20"/>
          <p:cNvSpPr/>
          <p:nvPr/>
        </p:nvSpPr>
        <p:spPr>
          <a:xfrm>
            <a:off x="6419160" y="2971800"/>
            <a:ext cx="2558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AgentRegistry.updateOverlayHash(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agentId, newOverlayHash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bumps experienceVersion +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matchCount on the iNFT.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21"/>
          <p:cNvSpPr/>
          <p:nvPr/>
        </p:nvSpPr>
        <p:spPr>
          <a:xfrm>
            <a:off x="9070920" y="3474720"/>
            <a:ext cx="272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c63ff"/>
                </a:solidFill>
                <a:latin typeface="Calibri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Rectangle 22"/>
          <p:cNvSpPr/>
          <p:nvPr/>
        </p:nvSpPr>
        <p:spPr>
          <a:xfrm>
            <a:off x="9235440" y="1737360"/>
            <a:ext cx="2741760" cy="3930480"/>
          </a:xfrm>
          <a:prstGeom prst="rect">
            <a:avLst/>
          </a:prstGeom>
          <a:solidFill>
            <a:srgbClr val="141228"/>
          </a:solidFill>
          <a:ln w="19050">
            <a:solidFill>
              <a:srgbClr val="c080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ectangle 23"/>
          <p:cNvSpPr/>
          <p:nvPr/>
        </p:nvSpPr>
        <p:spPr>
          <a:xfrm>
            <a:off x="9235440" y="1737360"/>
            <a:ext cx="2741760" cy="318600"/>
          </a:xfrm>
          <a:prstGeom prst="rect">
            <a:avLst/>
          </a:prstGeom>
          <a:solidFill>
            <a:srgbClr val="c08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TextBox 24"/>
          <p:cNvSpPr/>
          <p:nvPr/>
        </p:nvSpPr>
        <p:spPr>
          <a:xfrm>
            <a:off x="9345240" y="210312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080ff"/>
                </a:solidFill>
                <a:latin typeface="Calibri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25"/>
          <p:cNvSpPr/>
          <p:nvPr/>
        </p:nvSpPr>
        <p:spPr>
          <a:xfrm>
            <a:off x="9345240" y="2487240"/>
            <a:ext cx="2467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Audit JSON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Box 26"/>
          <p:cNvSpPr/>
          <p:nvPr/>
        </p:nvSpPr>
        <p:spPr>
          <a:xfrm>
            <a:off x="9345240" y="2971800"/>
            <a:ext cx="2558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Workflow emits full trace: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timestamps, retry count, gas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per step. Mirrored to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aaabb"/>
                </a:solidFill>
                <a:latin typeface="Calibri"/>
              </a:rPr>
              <a:t>0G Storage alongside game record.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Box 27"/>
          <p:cNvSpPr/>
          <p:nvPr/>
        </p:nvSpPr>
        <p:spPr>
          <a:xfrm>
            <a:off x="548640" y="5897880"/>
            <a:ext cx="10971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d4aa"/>
                </a:solidFill>
                <a:latin typeface="Calibri"/>
              </a:rPr>
              <a:t>Server calls POST /trigger → KeeperHub runs all 4 steps → pulls audit → mirrors to 0G Storage.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1"/>
          <p:cNvSpPr/>
          <p:nvPr/>
        </p:nvSpPr>
        <p:spPr>
          <a:xfrm>
            <a:off x="0" y="502920"/>
            <a:ext cx="12187440" cy="4428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TextBox 2"/>
          <p:cNvSpPr/>
          <p:nvPr/>
        </p:nvSpPr>
        <p:spPr>
          <a:xfrm>
            <a:off x="457200" y="109800"/>
            <a:ext cx="10971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c63ff"/>
                </a:solidFill>
                <a:latin typeface="Calibri"/>
              </a:rPr>
              <a:t>TECH STACK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Box 3"/>
          <p:cNvSpPr/>
          <p:nvPr/>
        </p:nvSpPr>
        <p:spPr>
          <a:xfrm>
            <a:off x="548640" y="77724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What we built it with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Box 4"/>
          <p:cNvSpPr/>
          <p:nvPr/>
        </p:nvSpPr>
        <p:spPr>
          <a:xfrm>
            <a:off x="548640" y="160020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Blockchain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Box 5"/>
          <p:cNvSpPr/>
          <p:nvPr/>
        </p:nvSpPr>
        <p:spPr>
          <a:xfrm>
            <a:off x="2926080" y="160020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0G Chain testnet · chainId 16602 · evmRPC + chainscan-galileo explorer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6"/>
          <p:cNvSpPr/>
          <p:nvPr/>
        </p:nvSpPr>
        <p:spPr>
          <a:xfrm>
            <a:off x="548640" y="214884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Smart contracts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Box 7"/>
          <p:cNvSpPr/>
          <p:nvPr/>
        </p:nvSpPr>
        <p:spPr>
          <a:xfrm>
            <a:off x="2926080" y="214884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Solidity 0.8.24 · Hardhat 2 · OpenZeppelin v5 · evmVersion cancun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Box 8"/>
          <p:cNvSpPr/>
          <p:nvPr/>
        </p:nvSpPr>
        <p:spPr>
          <a:xfrm>
            <a:off x="548640" y="269748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Game server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Box 9"/>
          <p:cNvSpPr/>
          <p:nvPr/>
        </p:nvSpPr>
        <p:spPr>
          <a:xfrm>
            <a:off x="2926080" y="269748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Python 3.12 · FastAPI · uvicorn · pydantic · web3.py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Box 10"/>
          <p:cNvSpPr/>
          <p:nvPr/>
        </p:nvSpPr>
        <p:spPr>
          <a:xfrm>
            <a:off x="548640" y="324612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Backgammon engine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11"/>
          <p:cNvSpPr/>
          <p:nvPr/>
        </p:nvSpPr>
        <p:spPr>
          <a:xfrm>
            <a:off x="2926080" y="324612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GNU Backgammon (gnubg) via External Player socket interface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12"/>
          <p:cNvSpPr/>
          <p:nvPr/>
        </p:nvSpPr>
        <p:spPr>
          <a:xfrm>
            <a:off x="548640" y="379476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0G Storage bridge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13"/>
          <p:cNvSpPr/>
          <p:nvPr/>
        </p:nvSpPr>
        <p:spPr>
          <a:xfrm>
            <a:off x="2926080" y="379476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Node.js workspace package (og-bridge) · @0gfoundation/0g-ts-sdk · ethers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Box 14"/>
          <p:cNvSpPr/>
          <p:nvPr/>
        </p:nvSpPr>
        <p:spPr>
          <a:xfrm>
            <a:off x="548640" y="434340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Identity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Box 15"/>
          <p:cNvSpPr/>
          <p:nvPr/>
        </p:nvSpPr>
        <p:spPr>
          <a:xfrm>
            <a:off x="2926080" y="434340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ENS subnames · text records (elo, match_count, style_uri, archive_uri)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Box 16"/>
          <p:cNvSpPr/>
          <p:nvPr/>
        </p:nvSpPr>
        <p:spPr>
          <a:xfrm>
            <a:off x="548640" y="489204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Settlement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7"/>
          <p:cNvSpPr/>
          <p:nvPr/>
        </p:nvSpPr>
        <p:spPr>
          <a:xfrm>
            <a:off x="2926080" y="489204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KeeperHub workflows · kh CLI · HTTP trigger API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Box 18"/>
          <p:cNvSpPr/>
          <p:nvPr/>
        </p:nvSpPr>
        <p:spPr>
          <a:xfrm>
            <a:off x="548640" y="544068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Frontend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Box 19"/>
          <p:cNvSpPr/>
          <p:nvPr/>
        </p:nvSpPr>
        <p:spPr>
          <a:xfrm>
            <a:off x="2926080" y="544068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Next.js 16 · React 19 · TypeScript · Tailwind CSS 4 · wagmi 3 · viem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20"/>
          <p:cNvSpPr/>
          <p:nvPr/>
        </p:nvSpPr>
        <p:spPr>
          <a:xfrm>
            <a:off x="548640" y="5989320"/>
            <a:ext cx="2284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4aa"/>
                </a:solidFill>
                <a:latin typeface="Calibri"/>
              </a:rPr>
              <a:t>Testing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Box 21"/>
          <p:cNvSpPr/>
          <p:nvPr/>
        </p:nvSpPr>
        <p:spPr>
          <a:xfrm>
            <a:off x="2926080" y="5989320"/>
            <a:ext cx="8959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82 server tests (pytest) · 52 contract tests (Hardhat/Mocha) · TDD throughout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1"/>
          <p:cNvSpPr/>
          <p:nvPr/>
        </p:nvSpPr>
        <p:spPr>
          <a:xfrm>
            <a:off x="548640" y="411480"/>
            <a:ext cx="54856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6c63ff"/>
                </a:solidFill>
                <a:latin typeface="Calibri"/>
              </a:rPr>
              <a:t>TL;DR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2"/>
          <p:cNvSpPr/>
          <p:nvPr/>
        </p:nvSpPr>
        <p:spPr>
          <a:xfrm>
            <a:off x="548640" y="868680"/>
            <a:ext cx="1106352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Decentralized, verifiable ELO for backgammon — for humans and for AI agents that live on-chain as 0G iNFTs and learn match by match.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Box 3"/>
          <p:cNvSpPr/>
          <p:nvPr/>
        </p:nvSpPr>
        <p:spPr>
          <a:xfrm>
            <a:off x="548640" y="2606040"/>
            <a:ext cx="1106352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Verifiable. </a:t>
            </a:r>
            <a:r>
              <a:rPr b="0" lang="en-US" sz="1300" spc="-1" strike="noStrike">
                <a:solidFill>
                  <a:srgbClr val="aaaabb"/>
                </a:solidFill>
                <a:latin typeface="Calibri"/>
              </a:rPr>
              <a:t>Every match settles to a MatchRegistry contract. Result, ELO delta, and a hash of the full game record (archived on 0G Storage) are all public and cryptographically tied together — anyone can audit any rating change end-to-end.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Box 4"/>
          <p:cNvSpPr/>
          <p:nvPr/>
        </p:nvSpPr>
        <p:spPr>
          <a:xfrm>
            <a:off x="548640" y="3931920"/>
            <a:ext cx="1106352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Portable. </a:t>
            </a:r>
            <a:r>
              <a:rPr b="0" lang="en-US" sz="1300" spc="-1" strike="noStrike">
                <a:solidFill>
                  <a:srgbClr val="aaaabb"/>
                </a:solidFill>
                <a:latin typeface="Calibri"/>
              </a:rPr>
              <a:t>Each player's rating lives in their wallet via an ENS subname (&lt;name&gt;.chaingammon.eth) whose text records hold current ELO, match count, and a link to the full archive. Switch frontends, switch clients — reputation comes with you.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5"/>
          <p:cNvSpPr/>
          <p:nvPr/>
        </p:nvSpPr>
        <p:spPr>
          <a:xfrm>
            <a:off x="548640" y="5257800"/>
            <a:ext cx="110635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Living, learning agents. </a:t>
            </a:r>
            <a:r>
              <a:rPr b="0" lang="en-US" sz="1300" spc="-1" strike="noStrike">
                <a:solidFill>
                  <a:srgbClr val="aaaabb"/>
                </a:solidFill>
                <a:latin typeface="Calibri"/>
              </a:rPr>
              <a:t>Each AI agent IS an ERC-7857 iNFT minted on 0G Chain — the token itself, not a label pointing at an off-chain model. The iNFT pins two hashes that point at 0G Storage: a shared gnubg neural-net base, and a per-agent experience overlay that the protocol rewrites after every match. The iNFT learns. Transfer the token, transfer the brain — with the verifiable match history attached.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2026-04-28T14:39:53Z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